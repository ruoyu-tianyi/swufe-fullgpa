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9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image" Target="../media/image5.png"/><Relationship Id="rId7" Type="http://schemas.openxmlformats.org/officeDocument/2006/relationships/tags" Target="../tags/tag6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64.xml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ags" Target="../tags/tag69.xml"/><Relationship Id="rId3" Type="http://schemas.openxmlformats.org/officeDocument/2006/relationships/image" Target="../media/image6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7113"/>
          <a:stretch>
            <a:fillRect/>
          </a:stretch>
        </p:blipFill>
        <p:spPr>
          <a:xfrm>
            <a:off x="3347720" y="0"/>
            <a:ext cx="3510280" cy="2500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2499995"/>
            <a:ext cx="3367405" cy="1320800"/>
          </a:xfrm>
        </p:spPr>
        <p:txBody>
          <a:bodyPr>
            <a:noAutofit/>
          </a:bodyPr>
          <a:p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🧩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Week3: Stack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（栈）</a:t>
            </a:r>
            <a:b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一、什么是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Stack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（栈）</a:t>
            </a:r>
            <a:b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📘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定义（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b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栈（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）是一种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后进先出（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LIFO, Last In First Out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的数据结构。</a:t>
            </a:r>
            <a:b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最后放进去的元素，最先被取出。</a:t>
            </a:r>
            <a:endParaRPr lang="zh-CN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278deb0eb6f21976be8a4ce3fe8538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" y="125095"/>
            <a:ext cx="3272155" cy="237490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23495" y="3881120"/>
          <a:ext cx="3451860" cy="137858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62965"/>
                <a:gridCol w="862965"/>
                <a:gridCol w="862965"/>
                <a:gridCol w="862965"/>
              </a:tblGrid>
              <a:tr h="150495">
                <a:tc>
                  <a:txBody>
                    <a:bodyPr/>
                    <a:p>
                      <a:r>
                        <a:rPr lang="zh-CN" altLang="en-US" sz="800"/>
                        <a:t>操作名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英文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含义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Python</a:t>
                      </a:r>
                      <a:r>
                        <a:rPr lang="zh-CN" altLang="en-US" sz="800"/>
                        <a:t>示例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59715">
                <a:tc>
                  <a:txBody>
                    <a:bodyPr/>
                    <a:p>
                      <a:r>
                        <a:rPr lang="en-US" altLang="zh-CN" sz="800"/>
                        <a:t>push(x)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入栈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把元素压入栈顶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stack.append(x)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300990">
                <a:tc>
                  <a:txBody>
                    <a:bodyPr/>
                    <a:p>
                      <a:r>
                        <a:rPr lang="en-US" altLang="zh-CN" sz="800"/>
                        <a:t>pop()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出栈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移除并返回栈顶元素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stack.pop()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150495">
                <a:tc>
                  <a:txBody>
                    <a:bodyPr/>
                    <a:p>
                      <a:r>
                        <a:rPr lang="en-US" altLang="zh-CN" sz="800"/>
                        <a:t>peek() / top()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查看栈顶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但不移除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stack[-1]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57810">
                <a:tc>
                  <a:txBody>
                    <a:bodyPr/>
                    <a:p>
                      <a:r>
                        <a:rPr lang="en-US" altLang="zh-CN" sz="800"/>
                        <a:t>is_empty()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判断栈是否空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endParaRPr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len(stack) == 0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59080">
                <a:tc>
                  <a:txBody>
                    <a:bodyPr/>
                    <a:p>
                      <a:r>
                        <a:rPr lang="en-US" altLang="zh-CN" sz="800"/>
                        <a:t>size()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获取栈元素数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endParaRPr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len(stack)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500630"/>
            <a:ext cx="3428365" cy="1918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382135"/>
            <a:ext cx="3374390" cy="2005330"/>
          </a:xfrm>
          <a:prstGeom prst="rect">
            <a:avLst/>
          </a:prstGeom>
        </p:spPr>
      </p:pic>
      <p:graphicFrame>
        <p:nvGraphicFramePr>
          <p:cNvPr id="10" name="表格 9"/>
          <p:cNvGraphicFramePr/>
          <p:nvPr>
            <p:custDataLst>
              <p:tags r:id="rId7"/>
            </p:custDataLst>
          </p:nvPr>
        </p:nvGraphicFramePr>
        <p:xfrm>
          <a:off x="46355" y="5320030"/>
          <a:ext cx="3429000" cy="11766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4500"/>
                <a:gridCol w="1714500"/>
              </a:tblGrid>
              <a:tr h="149225">
                <a:tc>
                  <a:txBody>
                    <a:bodyPr/>
                    <a:p>
                      <a:r>
                        <a:rPr lang="zh-CN" altLang="en-US" sz="800"/>
                        <a:t>应用场景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说明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71780">
                <a:tc>
                  <a:txBody>
                    <a:bodyPr/>
                    <a:p>
                      <a:r>
                        <a:rPr lang="zh-CN" altLang="en-US" sz="800"/>
                        <a:t>函数调用（</a:t>
                      </a:r>
                      <a:r>
                        <a:rPr lang="en-US" altLang="zh-CN" sz="800"/>
                        <a:t>Function Call Stack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每次函数调用都会把现场压栈，返回后出栈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41935">
                <a:tc>
                  <a:txBody>
                    <a:bodyPr/>
                    <a:p>
                      <a:r>
                        <a:rPr lang="zh-CN" altLang="en-US" sz="800"/>
                        <a:t>括号匹配（</a:t>
                      </a:r>
                      <a:r>
                        <a:rPr lang="en-US" altLang="zh-CN" sz="800"/>
                        <a:t>Parentheses Matching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遇左括号入栈，遇右括号出栈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41935">
                <a:tc>
                  <a:txBody>
                    <a:bodyPr/>
                    <a:p>
                      <a:r>
                        <a:rPr lang="zh-CN" altLang="en-US" sz="800"/>
                        <a:t>表达式求值（</a:t>
                      </a:r>
                      <a:r>
                        <a:rPr lang="en-US" altLang="zh-CN" sz="800"/>
                        <a:t>Expression Evaluation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中缀转后缀、逆波兰表达式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6525">
                <a:tc>
                  <a:txBody>
                    <a:bodyPr/>
                    <a:p>
                      <a:r>
                        <a:rPr lang="en-US" altLang="zh-CN" sz="800"/>
                        <a:t>DFS</a:t>
                      </a:r>
                      <a:r>
                        <a:rPr lang="zh-CN" altLang="en-US" sz="800"/>
                        <a:t>（深度优先搜索）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使用栈模拟递归过程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5255">
                <a:tc>
                  <a:txBody>
                    <a:bodyPr/>
                    <a:p>
                      <a:r>
                        <a:rPr lang="zh-CN" altLang="en-US" sz="800"/>
                        <a:t>撤销操作（</a:t>
                      </a:r>
                      <a:r>
                        <a:rPr lang="en-US" altLang="zh-CN" sz="800"/>
                        <a:t>Undo / Redo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编辑器历史操作栈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57010"/>
            <a:ext cx="3367405" cy="24422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29000" y="6434455"/>
            <a:ext cx="2799080" cy="807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800" b="1"/>
              <a:t>一、</a:t>
            </a:r>
            <a:r>
              <a:rPr lang="en-US" altLang="zh-CN" sz="800" b="1"/>
              <a:t>collections </a:t>
            </a:r>
            <a:r>
              <a:rPr lang="zh-CN" altLang="en-US" sz="800" b="1"/>
              <a:t>是什么？</a:t>
            </a:r>
            <a:endParaRPr lang="zh-CN" altLang="en-US" sz="800" b="1"/>
          </a:p>
          <a:p>
            <a:r>
              <a:rPr lang="en-US" altLang="zh-CN" sz="800"/>
              <a:t>collections </a:t>
            </a:r>
            <a:r>
              <a:rPr lang="zh-CN" altLang="en-US" sz="800"/>
              <a:t>是 </a:t>
            </a:r>
            <a:r>
              <a:rPr lang="en-US" altLang="zh-CN" sz="800"/>
              <a:t>Python </a:t>
            </a:r>
            <a:r>
              <a:rPr lang="zh-CN" altLang="en-US" sz="800"/>
              <a:t>自带的一个模块（</a:t>
            </a:r>
            <a:r>
              <a:rPr lang="en-US" altLang="zh-CN" sz="800"/>
              <a:t>module</a:t>
            </a:r>
            <a:r>
              <a:rPr lang="zh-CN" altLang="en-US" sz="800"/>
              <a:t>），</a:t>
            </a:r>
            <a:endParaRPr lang="zh-CN" altLang="en-US" sz="800"/>
          </a:p>
          <a:p>
            <a:r>
              <a:rPr lang="zh-CN" altLang="en-US" sz="800"/>
              <a:t> 里面放着一些比普通 </a:t>
            </a:r>
            <a:r>
              <a:rPr lang="en-US" altLang="zh-CN" sz="800"/>
              <a:t>list</a:t>
            </a:r>
            <a:r>
              <a:rPr lang="zh-CN" altLang="en-US" sz="800"/>
              <a:t>、</a:t>
            </a:r>
            <a:r>
              <a:rPr lang="en-US" altLang="zh-CN" sz="800"/>
              <a:t>dict </a:t>
            </a:r>
            <a:r>
              <a:rPr lang="zh-CN" altLang="en-US" sz="800"/>
              <a:t>更高效的容器类型。</a:t>
            </a:r>
            <a:endParaRPr lang="zh-CN" altLang="en-US" sz="800"/>
          </a:p>
          <a:p>
            <a:r>
              <a:rPr lang="zh-CN" altLang="en-US" sz="800" b="1"/>
              <a:t>二、</a:t>
            </a:r>
            <a:r>
              <a:rPr lang="en-US" altLang="zh-CN" sz="800" b="1"/>
              <a:t>deque </a:t>
            </a:r>
            <a:r>
              <a:rPr lang="zh-CN" altLang="en-US" sz="800" b="1"/>
              <a:t>是什么？</a:t>
            </a:r>
            <a:endParaRPr lang="zh-CN" altLang="en-US" sz="800" b="1"/>
          </a:p>
          <a:p>
            <a:r>
              <a:rPr lang="zh-CN" altLang="en-US" sz="800"/>
              <a:t>全称</a:t>
            </a:r>
            <a:r>
              <a:rPr lang="en-US" altLang="zh-CN" sz="800"/>
              <a:t> double-ended queue</a:t>
            </a:r>
            <a:r>
              <a:rPr lang="zh-CN" altLang="en-US" sz="800"/>
              <a:t>（双端队列）。</a:t>
            </a:r>
            <a:endParaRPr lang="zh-CN" altLang="en-US" sz="800"/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51765" y="131445"/>
            <a:ext cx="3016885" cy="1697990"/>
          </a:xfrm>
        </p:spPr>
        <p:txBody>
          <a:bodyPr/>
          <a:p>
            <a:pPr marL="0" indent="0">
              <a:buNone/>
            </a:pP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🧩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Week 4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（队列）与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Deque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（双端队列）</a:t>
            </a:r>
            <a:endParaRPr lang="zh-CN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一、什么是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Queue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（队列）</a:t>
            </a:r>
            <a:endParaRPr lang="en-US" altLang="zh-CN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📘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定义：</a:t>
            </a:r>
            <a:endParaRPr lang="zh-CN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队列（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）是一种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先进先出（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FIFO, First In First Out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的数据结构</a:t>
            </a:r>
            <a:endParaRPr lang="zh-CN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6035" y="1898015"/>
          <a:ext cx="3429000" cy="134683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57250"/>
                <a:gridCol w="857250"/>
                <a:gridCol w="857250"/>
                <a:gridCol w="857250"/>
              </a:tblGrid>
              <a:tr h="282575">
                <a:tc>
                  <a:txBody>
                    <a:bodyPr/>
                    <a:p>
                      <a:r>
                        <a:rPr lang="zh-CN" altLang="en-US" sz="800"/>
                        <a:t>操作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英文名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含义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Python </a:t>
                      </a:r>
                      <a:r>
                        <a:rPr lang="zh-CN" altLang="en-US" sz="800"/>
                        <a:t>实现方式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12725">
                <a:tc>
                  <a:txBody>
                    <a:bodyPr/>
                    <a:p>
                      <a:r>
                        <a:rPr lang="en-US" altLang="zh-CN" sz="800"/>
                        <a:t>enqueue(x)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入队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把元素加入队尾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queue.append(x)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12725">
                <a:tc>
                  <a:txBody>
                    <a:bodyPr/>
                    <a:p>
                      <a:r>
                        <a:rPr lang="en-US" altLang="zh-CN" sz="800"/>
                        <a:t>dequeue()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出队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移除并返回队首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queue.popleft()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12725">
                <a:tc>
                  <a:txBody>
                    <a:bodyPr/>
                    <a:p>
                      <a:r>
                        <a:rPr lang="en-US" altLang="zh-CN" sz="800"/>
                        <a:t>peek() / front()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查看队首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不移除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queue[0]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13360">
                <a:tc>
                  <a:txBody>
                    <a:bodyPr/>
                    <a:p>
                      <a:r>
                        <a:rPr lang="en-US" altLang="zh-CN" sz="800"/>
                        <a:t>is_empty()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判断是否为空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endParaRPr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len(queue) == 0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212725">
                <a:tc>
                  <a:txBody>
                    <a:bodyPr/>
                    <a:p>
                      <a:r>
                        <a:rPr lang="en-US" altLang="zh-CN" sz="800"/>
                        <a:t>size()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获取长度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endParaRPr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len(queue)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1445"/>
            <a:ext cx="3429635" cy="2609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29000" y="2740660"/>
            <a:ext cx="2900680" cy="50419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800" b="1"/>
              <a:t>🔍 解释：</a:t>
            </a:r>
            <a:endParaRPr lang="zh-CN" altLang="en-US" sz="800" b="1"/>
          </a:p>
          <a:p>
            <a:pPr>
              <a:buFont typeface="Arial" panose="020B0604020202020204"/>
              <a:buChar char="•"/>
            </a:pPr>
            <a:r>
              <a:rPr lang="en-US" altLang="zh-CN" sz="800" b="1"/>
              <a:t>append() </a:t>
            </a:r>
            <a:r>
              <a:rPr lang="zh-CN" altLang="en-US" sz="800" b="1"/>
              <a:t>往右边加元素（队尾）</a:t>
            </a:r>
            <a:endParaRPr lang="zh-CN" altLang="en-US" sz="800" b="1"/>
          </a:p>
          <a:p>
            <a:pPr>
              <a:buFont typeface="Arial" panose="020B0604020202020204"/>
              <a:buChar char="•"/>
            </a:pPr>
            <a:r>
              <a:rPr lang="en-US" altLang="zh-CN" sz="800" b="1"/>
              <a:t>popleft() </a:t>
            </a:r>
            <a:r>
              <a:rPr lang="zh-CN" altLang="en-US" sz="800" b="1"/>
              <a:t>从左边拿元素（队首）</a:t>
            </a:r>
            <a:endParaRPr lang="zh-CN" altLang="en-US" sz="800" b="1"/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77470" y="3339465"/>
          <a:ext cx="3232150" cy="838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075"/>
                <a:gridCol w="1616075"/>
              </a:tblGrid>
              <a:tr h="139700">
                <a:tc>
                  <a:txBody>
                    <a:bodyPr/>
                    <a:p>
                      <a:r>
                        <a:rPr lang="zh-CN" altLang="en-US" sz="800"/>
                        <a:t>应用场景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说明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9700">
                <a:tc>
                  <a:txBody>
                    <a:bodyPr/>
                    <a:p>
                      <a:r>
                        <a:rPr lang="zh-CN" altLang="en-US" sz="800"/>
                        <a:t>任务调度（</a:t>
                      </a:r>
                      <a:r>
                        <a:rPr lang="en-US" altLang="zh-CN" sz="800"/>
                        <a:t>Task Scheduling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比如打印机排队打印任务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9700">
                <a:tc>
                  <a:txBody>
                    <a:bodyPr/>
                    <a:p>
                      <a:r>
                        <a:rPr lang="zh-CN" altLang="en-US" sz="800"/>
                        <a:t>消息队列（</a:t>
                      </a:r>
                      <a:r>
                        <a:rPr lang="en-US" altLang="zh-CN" sz="800"/>
                        <a:t>Message Queue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网络或系统通信中的数据流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9700">
                <a:tc>
                  <a:txBody>
                    <a:bodyPr/>
                    <a:p>
                      <a:r>
                        <a:rPr lang="zh-CN" altLang="en-US" sz="800"/>
                        <a:t>广度优先搜索（</a:t>
                      </a:r>
                      <a:r>
                        <a:rPr lang="en-US" altLang="zh-CN" sz="800"/>
                        <a:t>BFS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图论遍历、迷宫最短路径算法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9700">
                <a:tc>
                  <a:txBody>
                    <a:bodyPr/>
                    <a:p>
                      <a:r>
                        <a:rPr lang="zh-CN" altLang="en-US" sz="800"/>
                        <a:t>生产者</a:t>
                      </a:r>
                      <a:r>
                        <a:rPr lang="en-US" altLang="zh-CN" sz="800"/>
                        <a:t>-</a:t>
                      </a:r>
                      <a:r>
                        <a:rPr lang="zh-CN" altLang="en-US" sz="800"/>
                        <a:t>消费者模型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多线程间任务传递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39700">
                <a:tc>
                  <a:txBody>
                    <a:bodyPr/>
                    <a:p>
                      <a:r>
                        <a:rPr lang="zh-CN" altLang="en-US" sz="800"/>
                        <a:t>缓存机制（</a:t>
                      </a:r>
                      <a:r>
                        <a:rPr lang="en-US" altLang="zh-CN" sz="800"/>
                        <a:t>Buffer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数据流的先来先处理结构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035" y="3244850"/>
            <a:ext cx="3404235" cy="30333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272280"/>
            <a:ext cx="3434080" cy="35159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7470" y="7788275"/>
            <a:ext cx="2574290" cy="953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800"/>
              <a:t>✅ </a:t>
            </a:r>
            <a:r>
              <a:rPr lang="zh-CN" altLang="en-US" sz="800"/>
              <a:t>双端队列在很多算法中非常重要，比如：</a:t>
            </a:r>
            <a:endParaRPr lang="zh-CN" altLang="en-US" sz="800"/>
          </a:p>
          <a:p>
            <a:endParaRPr lang="zh-CN" altLang="en-US" sz="800"/>
          </a:p>
          <a:p>
            <a:pPr>
              <a:buFont typeface="Arial" panose="020B0604020202020204"/>
              <a:buChar char="•"/>
            </a:pPr>
            <a:r>
              <a:rPr lang="zh-CN" altLang="en-US" sz="800"/>
              <a:t>滑动窗口（</a:t>
            </a:r>
            <a:r>
              <a:rPr lang="en-US" altLang="zh-CN" sz="800"/>
              <a:t>Sliding Window</a:t>
            </a:r>
            <a:r>
              <a:rPr lang="zh-CN" altLang="en-US" sz="800"/>
              <a:t>）</a:t>
            </a:r>
            <a:endParaRPr lang="zh-CN" altLang="en-US" sz="800"/>
          </a:p>
          <a:p>
            <a:pPr>
              <a:buFont typeface="Arial" panose="020B0604020202020204"/>
              <a:buChar char="•"/>
            </a:pPr>
            <a:endParaRPr lang="zh-CN" altLang="en-US" sz="800"/>
          </a:p>
          <a:p>
            <a:pPr>
              <a:buFont typeface="Arial" panose="020B0604020202020204"/>
              <a:buChar char="•"/>
            </a:pPr>
            <a:r>
              <a:rPr lang="zh-CN" altLang="en-US" sz="800"/>
              <a:t>最短路径（</a:t>
            </a:r>
            <a:r>
              <a:rPr lang="en-US" altLang="zh-CN" sz="800"/>
              <a:t>Dijkstra </a:t>
            </a:r>
            <a:r>
              <a:rPr lang="zh-CN" altLang="en-US" sz="800"/>
              <a:t>优化）</a:t>
            </a:r>
            <a:endParaRPr lang="zh-CN" altLang="en-US" sz="800"/>
          </a:p>
          <a:p>
            <a:pPr>
              <a:buFont typeface="Arial" panose="020B0604020202020204"/>
              <a:buChar char="•"/>
            </a:pPr>
            <a:endParaRPr lang="zh-CN" altLang="en-US" sz="800"/>
          </a:p>
          <a:p>
            <a:pPr>
              <a:buFont typeface="Arial" panose="020B0604020202020204"/>
              <a:buChar char="•"/>
            </a:pPr>
            <a:r>
              <a:rPr lang="zh-CN" altLang="en-US" sz="800"/>
              <a:t>双指针优化问题</a:t>
            </a:r>
            <a:endParaRPr lang="zh-CN" altLang="en-US" sz="800"/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3470910" cy="1727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000" b="1"/>
              <a:t> Week 5</a:t>
            </a:r>
            <a:r>
              <a:rPr lang="zh-CN" altLang="en-US" sz="1000" b="1"/>
              <a:t>：</a:t>
            </a:r>
            <a:r>
              <a:rPr lang="en-US" altLang="zh-CN" sz="1000" b="1"/>
              <a:t>Linked List</a:t>
            </a:r>
            <a:r>
              <a:rPr lang="zh-CN" altLang="en-US" sz="1000" b="1"/>
              <a:t>（链表）</a:t>
            </a:r>
            <a:endParaRPr lang="zh-CN" altLang="en-US" sz="1000" b="1"/>
          </a:p>
          <a:p>
            <a:pPr>
              <a:spcAft>
                <a:spcPct val="60000"/>
              </a:spcAft>
            </a:pPr>
            <a:r>
              <a:rPr lang="zh-CN" altLang="en-US" sz="1000" b="1"/>
              <a:t>一、什么是链表（</a:t>
            </a:r>
            <a:r>
              <a:rPr lang="en-US" altLang="zh-CN" sz="1000" b="1"/>
              <a:t>Linked List</a:t>
            </a:r>
            <a:r>
              <a:rPr lang="zh-CN" altLang="en-US" sz="1000" b="1"/>
              <a:t>）</a:t>
            </a:r>
            <a:endParaRPr lang="zh-CN" altLang="en-US" sz="1000" b="1"/>
          </a:p>
          <a:p>
            <a:r>
              <a:rPr lang="zh-CN" altLang="en-US" sz="1000"/>
              <a:t>📘 定义：</a:t>
            </a:r>
            <a:endParaRPr lang="zh-CN" altLang="en-US" sz="1000"/>
          </a:p>
          <a:p>
            <a:r>
              <a:rPr lang="zh-CN" altLang="en-US" sz="1000"/>
              <a:t> 链表是一种线性数据结构（</a:t>
            </a:r>
            <a:r>
              <a:rPr lang="en-US" altLang="zh-CN" sz="1000"/>
              <a:t>linear data structure</a:t>
            </a:r>
            <a:r>
              <a:rPr lang="zh-CN" altLang="en-US" sz="1000"/>
              <a:t>），</a:t>
            </a:r>
            <a:endParaRPr lang="zh-CN" altLang="en-US" sz="1000"/>
          </a:p>
          <a:p>
            <a:r>
              <a:rPr lang="zh-CN" altLang="en-US" sz="1000"/>
              <a:t> 它通过</a:t>
            </a:r>
            <a:r>
              <a:rPr lang="en-US" altLang="zh-CN" sz="1000"/>
              <a:t>**</a:t>
            </a:r>
            <a:r>
              <a:rPr lang="zh-CN" altLang="en-US" sz="1000"/>
              <a:t>节点（</a:t>
            </a:r>
            <a:r>
              <a:rPr lang="en-US" altLang="zh-CN" sz="1000"/>
              <a:t>Node</a:t>
            </a:r>
            <a:r>
              <a:rPr lang="zh-CN" altLang="en-US" sz="1000"/>
              <a:t>）和指针（</a:t>
            </a:r>
            <a:r>
              <a:rPr lang="en-US" altLang="zh-CN" sz="1000"/>
              <a:t>Pointer</a:t>
            </a:r>
            <a:r>
              <a:rPr lang="zh-CN" altLang="en-US" sz="1000"/>
              <a:t>）</a:t>
            </a:r>
            <a:r>
              <a:rPr lang="en-US" altLang="zh-CN" sz="1000"/>
              <a:t>**</a:t>
            </a:r>
            <a:r>
              <a:rPr lang="zh-CN" altLang="en-US" sz="1000"/>
              <a:t>相互连接来存储数据。</a:t>
            </a:r>
            <a:endParaRPr lang="zh-CN" altLang="en-US" sz="1000"/>
          </a:p>
          <a:p>
            <a:r>
              <a:rPr lang="zh-CN" altLang="en-US" sz="1000"/>
              <a:t>每个节点包含：</a:t>
            </a:r>
            <a:endParaRPr lang="zh-CN" altLang="en-US" sz="1000"/>
          </a:p>
          <a:p>
            <a:r>
              <a:rPr lang="zh-CN" altLang="en-US" sz="1000"/>
              <a:t> </a:t>
            </a:r>
            <a:r>
              <a:rPr lang="en-US" altLang="zh-CN" sz="1000"/>
              <a:t>1️⃣ </a:t>
            </a:r>
            <a:r>
              <a:rPr lang="zh-CN" altLang="en-US" sz="1000"/>
              <a:t>数据（</a:t>
            </a:r>
            <a:r>
              <a:rPr lang="en-US" altLang="zh-CN" sz="1000"/>
              <a:t>data</a:t>
            </a:r>
            <a:r>
              <a:rPr lang="zh-CN" altLang="en-US" sz="1000"/>
              <a:t>）</a:t>
            </a:r>
            <a:endParaRPr lang="zh-CN" altLang="en-US" sz="1000"/>
          </a:p>
          <a:p>
            <a:r>
              <a:rPr lang="zh-CN" altLang="en-US" sz="1000"/>
              <a:t> </a:t>
            </a:r>
            <a:r>
              <a:rPr lang="en-US" altLang="zh-CN" sz="1000"/>
              <a:t>2️⃣ </a:t>
            </a:r>
            <a:r>
              <a:rPr lang="zh-CN" altLang="en-US" sz="1000"/>
              <a:t>指向下一个节点的引用（</a:t>
            </a:r>
            <a:r>
              <a:rPr lang="en-US" altLang="zh-CN" sz="1000"/>
              <a:t>next</a:t>
            </a:r>
            <a:r>
              <a:rPr lang="zh-CN" altLang="en-US" sz="1000"/>
              <a:t>）</a:t>
            </a:r>
            <a:endParaRPr lang="zh-CN" altLang="en-US" sz="1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" y="1760220"/>
            <a:ext cx="3380105" cy="1962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3005"/>
            <a:ext cx="3470910" cy="444754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93980" y="8383905"/>
          <a:ext cx="3346450" cy="967740"/>
        </p:xfrm>
        <a:graphic>
          <a:graphicData uri="http://schemas.openxmlformats.org/drawingml/2006/table">
            <a:tbl>
              <a:tblPr/>
              <a:tblGrid>
                <a:gridCol w="1673225"/>
                <a:gridCol w="1673225"/>
              </a:tblGrid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</a:rPr>
                        <a:t>操作</a:t>
                      </a:r>
                      <a:endParaRPr lang="zh-CN" altLang="en-US" sz="10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</a:rPr>
                        <a:t>时间复杂度</a:t>
                      </a:r>
                      <a:endParaRPr lang="zh-CN" altLang="en-US" sz="1000"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遍历（</a:t>
                      </a:r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Traversal</a:t>
                      </a:r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  <a:endParaRPr lang="en-US" altLang="zh-C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插入（</a:t>
                      </a:r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at head</a:t>
                      </a:r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  <a:endParaRPr lang="en-US" altLang="zh-C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插入（</a:t>
                      </a:r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at tail</a:t>
                      </a:r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  <a:endParaRPr lang="en-US" altLang="zh-C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删除节点（</a:t>
                      </a:r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  <a:endParaRPr lang="en-US" altLang="zh-C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1290">
                <a:tc>
                  <a:txBody>
                    <a:bodyPr/>
                    <a:p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搜索（</a:t>
                      </a:r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  <a:r>
                        <a:rPr lang="zh-CN" alt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  <a:endParaRPr lang="en-US" altLang="zh-CN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442970" y="0"/>
            <a:ext cx="3415030" cy="14478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zh-CN" altLang="en-US" sz="1000" b="1"/>
              <a:t>🧩 </a:t>
            </a:r>
            <a:r>
              <a:rPr lang="en-US" altLang="zh-CN" sz="1000" b="1"/>
              <a:t>Week 6</a:t>
            </a:r>
            <a:r>
              <a:rPr lang="zh-CN" altLang="en-US" sz="1000" b="1"/>
              <a:t>：</a:t>
            </a:r>
            <a:r>
              <a:rPr lang="en-US" altLang="zh-CN" sz="1000" b="1"/>
              <a:t>Doubly Linked List</a:t>
            </a:r>
            <a:r>
              <a:rPr lang="zh-CN" altLang="en-US" sz="1000" b="1"/>
              <a:t>（双向链表）</a:t>
            </a:r>
            <a:endParaRPr lang="zh-CN" altLang="en-US" sz="1000" b="1"/>
          </a:p>
          <a:p>
            <a:pPr>
              <a:spcAft>
                <a:spcPct val="60000"/>
              </a:spcAft>
            </a:pPr>
            <a:r>
              <a:rPr lang="zh-CN" altLang="en-US" sz="1000" b="1"/>
              <a:t>一、什么是双向链表（</a:t>
            </a:r>
            <a:r>
              <a:rPr lang="en-US" altLang="zh-CN" sz="1000" b="1"/>
              <a:t>Doubly Linked List</a:t>
            </a:r>
            <a:r>
              <a:rPr lang="zh-CN" altLang="en-US" sz="1000" b="1"/>
              <a:t>）</a:t>
            </a:r>
            <a:endParaRPr lang="zh-CN" altLang="en-US" sz="1000" b="1"/>
          </a:p>
          <a:p>
            <a:r>
              <a:rPr lang="zh-CN" altLang="en-US" sz="1000"/>
              <a:t>📘 定义：</a:t>
            </a:r>
            <a:endParaRPr lang="zh-CN" altLang="en-US" sz="1000"/>
          </a:p>
          <a:p>
            <a:r>
              <a:rPr lang="zh-CN" altLang="en-US" sz="1000"/>
              <a:t> 双向链表是一种改进的链表结构，</a:t>
            </a:r>
            <a:endParaRPr lang="zh-CN" altLang="en-US" sz="1000"/>
          </a:p>
          <a:p>
            <a:r>
              <a:rPr lang="zh-CN" altLang="en-US" sz="1000"/>
              <a:t>每个节点不仅知道“下一个”是谁（</a:t>
            </a:r>
            <a:r>
              <a:rPr lang="en-US" altLang="zh-CN" sz="1000"/>
              <a:t>next</a:t>
            </a:r>
            <a:r>
              <a:rPr lang="zh-CN" altLang="en-US" sz="1000"/>
              <a:t>），</a:t>
            </a:r>
            <a:endParaRPr lang="zh-CN" altLang="en-US" sz="1000"/>
          </a:p>
          <a:p>
            <a:r>
              <a:rPr lang="zh-CN" altLang="en-US" sz="1000"/>
              <a:t> 还知道“上一个”是谁（</a:t>
            </a:r>
            <a:r>
              <a:rPr lang="en-US" altLang="zh-CN" sz="1000"/>
              <a:t>prev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zh-CN" altLang="en-US" sz="1000"/>
              <a:t>因此，链表可以 双向遍历 👇</a:t>
            </a:r>
            <a:endParaRPr lang="zh-CN" altLang="en-US" sz="1000"/>
          </a:p>
        </p:txBody>
      </p:sp>
      <p:graphicFrame>
        <p:nvGraphicFramePr>
          <p:cNvPr id="9" name="表格 8"/>
          <p:cNvGraphicFramePr/>
          <p:nvPr>
            <p:custDataLst>
              <p:tags r:id="rId4"/>
            </p:custDataLst>
          </p:nvPr>
        </p:nvGraphicFramePr>
        <p:xfrm>
          <a:off x="3440430" y="1447800"/>
          <a:ext cx="3434715" cy="9525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44905"/>
                <a:gridCol w="1144905"/>
                <a:gridCol w="1144905"/>
              </a:tblGrid>
              <a:tr h="158750">
                <a:tc>
                  <a:txBody>
                    <a:bodyPr/>
                    <a:p>
                      <a:r>
                        <a:rPr lang="zh-CN" altLang="en-US" sz="800"/>
                        <a:t>特性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单链表（</a:t>
                      </a:r>
                      <a:r>
                        <a:rPr lang="en-US" altLang="zh-CN" sz="800"/>
                        <a:t>Singly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双向链表（</a:t>
                      </a:r>
                      <a:r>
                        <a:rPr lang="en-US" altLang="zh-CN" sz="800"/>
                        <a:t>Doubly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58750">
                <a:tc>
                  <a:txBody>
                    <a:bodyPr/>
                    <a:p>
                      <a:r>
                        <a:rPr lang="zh-CN" altLang="en-US" sz="800"/>
                        <a:t>每个节点包含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data + next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data + next + prev</a:t>
                      </a:r>
                      <a:endParaRPr lang="en-US" altLang="zh-CN" sz="800"/>
                    </a:p>
                  </a:txBody>
                  <a:tcPr marL="0" marR="0" marT="0" marB="0" anchor="ctr" anchorCtr="0"/>
                </a:tc>
              </a:tr>
              <a:tr h="158750">
                <a:tc>
                  <a:txBody>
                    <a:bodyPr/>
                    <a:p>
                      <a:r>
                        <a:rPr lang="zh-CN" altLang="en-US" sz="800"/>
                        <a:t>可否向后遍历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✅ </a:t>
                      </a:r>
                      <a:r>
                        <a:rPr lang="zh-CN" altLang="en-US" sz="800"/>
                        <a:t>可以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✅ </a:t>
                      </a:r>
                      <a:r>
                        <a:rPr lang="zh-CN" altLang="en-US" sz="800"/>
                        <a:t>可以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58750">
                <a:tc>
                  <a:txBody>
                    <a:bodyPr/>
                    <a:p>
                      <a:r>
                        <a:rPr lang="zh-CN" altLang="en-US" sz="800"/>
                        <a:t>可否向前遍历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❌ </a:t>
                      </a:r>
                      <a:r>
                        <a:rPr lang="zh-CN" altLang="en-US" sz="800"/>
                        <a:t>不行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✅ </a:t>
                      </a:r>
                      <a:r>
                        <a:rPr lang="zh-CN" altLang="en-US" sz="800"/>
                        <a:t>可以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58750">
                <a:tc>
                  <a:txBody>
                    <a:bodyPr/>
                    <a:p>
                      <a:r>
                        <a:rPr lang="zh-CN" altLang="en-US" sz="800"/>
                        <a:t>插入删除效率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中等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更方便（不用找前驱）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58750">
                <a:tc>
                  <a:txBody>
                    <a:bodyPr/>
                    <a:p>
                      <a:r>
                        <a:rPr lang="zh-CN" altLang="en-US" sz="800"/>
                        <a:t>占用内存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较小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较大（多一个 </a:t>
                      </a:r>
                      <a:r>
                        <a:rPr lang="en-US" altLang="zh-CN" sz="800"/>
                        <a:t>prev </a:t>
                      </a:r>
                      <a:r>
                        <a:rPr lang="zh-CN" altLang="en-US" sz="800"/>
                        <a:t>指针）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475230"/>
            <a:ext cx="3364865" cy="18141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rcRect r="31192" b="1565"/>
          <a:stretch>
            <a:fillRect/>
          </a:stretch>
        </p:blipFill>
        <p:spPr>
          <a:xfrm>
            <a:off x="3442970" y="4190365"/>
            <a:ext cx="3432175" cy="571309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66465" cy="133731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8895" y="1388745"/>
          <a:ext cx="3380740" cy="7264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90370"/>
                <a:gridCol w="1690370"/>
              </a:tblGrid>
              <a:tr h="121920">
                <a:tc>
                  <a:txBody>
                    <a:bodyPr/>
                    <a:p>
                      <a:r>
                        <a:rPr lang="zh-CN" altLang="en-US" sz="800"/>
                        <a:t>场景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示例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238760">
                <a:tc>
                  <a:txBody>
                    <a:bodyPr/>
                    <a:p>
                      <a:r>
                        <a:rPr lang="en-US" altLang="zh-CN" sz="800"/>
                        <a:t>LRU Cache</a:t>
                      </a:r>
                      <a:r>
                        <a:rPr lang="zh-CN" altLang="en-US" sz="800"/>
                        <a:t>（最近最少使用缓存）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800"/>
                        <a:t>O(1) </a:t>
                      </a:r>
                      <a:r>
                        <a:rPr lang="zh-CN" altLang="en-US" sz="800"/>
                        <a:t>删除中间节点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21920">
                <a:tc>
                  <a:txBody>
                    <a:bodyPr/>
                    <a:p>
                      <a:r>
                        <a:rPr lang="zh-CN" altLang="en-US" sz="800"/>
                        <a:t>浏览器前进</a:t>
                      </a:r>
                      <a:r>
                        <a:rPr lang="en-US" altLang="zh-CN" sz="800"/>
                        <a:t>/</a:t>
                      </a:r>
                      <a:r>
                        <a:rPr lang="zh-CN" altLang="en-US" sz="800"/>
                        <a:t>后退功能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双向切换页面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21920">
                <a:tc>
                  <a:txBody>
                    <a:bodyPr/>
                    <a:p>
                      <a:r>
                        <a:rPr lang="zh-CN" altLang="en-US" sz="800"/>
                        <a:t>音乐播放器播放列表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上一首 </a:t>
                      </a:r>
                      <a:r>
                        <a:rPr lang="en-US" altLang="zh-CN" sz="800"/>
                        <a:t>/ </a:t>
                      </a:r>
                      <a:r>
                        <a:rPr lang="zh-CN" altLang="en-US" sz="800"/>
                        <a:t>下一首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  <a:tr h="121920">
                <a:tc>
                  <a:txBody>
                    <a:bodyPr/>
                    <a:p>
                      <a:r>
                        <a:rPr lang="zh-CN" altLang="en-US" sz="800"/>
                        <a:t>操作撤销 </a:t>
                      </a:r>
                      <a:r>
                        <a:rPr lang="en-US" altLang="zh-CN" sz="800"/>
                        <a:t>/ </a:t>
                      </a:r>
                      <a:r>
                        <a:rPr lang="zh-CN" altLang="en-US" sz="800"/>
                        <a:t>重做（</a:t>
                      </a:r>
                      <a:r>
                        <a:rPr lang="en-US" altLang="zh-CN" sz="800"/>
                        <a:t>Undo / Redo</a:t>
                      </a:r>
                      <a:r>
                        <a:rPr lang="zh-CN" altLang="en-US" sz="800"/>
                        <a:t>）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800"/>
                        <a:t>双向操作历史</a:t>
                      </a:r>
                      <a:endParaRPr lang="zh-CN" altLang="en-US" sz="8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95885" y="2214880"/>
          <a:ext cx="3333750" cy="122872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11250"/>
                <a:gridCol w="1111250"/>
                <a:gridCol w="1111250"/>
              </a:tblGrid>
              <a:tr h="245745">
                <a:tc>
                  <a:txBody>
                    <a:bodyPr/>
                    <a:p>
                      <a:r>
                        <a:rPr lang="zh-CN" altLang="en-US" sz="1000"/>
                        <a:t>操作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时间复杂度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说明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</a:tr>
              <a:tr h="245745">
                <a:tc>
                  <a:txBody>
                    <a:bodyPr/>
                    <a:p>
                      <a:r>
                        <a:rPr lang="zh-CN" altLang="en-US" sz="1000"/>
                        <a:t>插入头部 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尾部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000"/>
                        <a:t>O(1)</a:t>
                      </a:r>
                      <a:endParaRPr lang="en-US" altLang="zh-CN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直接修改指针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</a:tr>
              <a:tr h="245745">
                <a:tc>
                  <a:txBody>
                    <a:bodyPr/>
                    <a:p>
                      <a:r>
                        <a:rPr lang="zh-CN" altLang="en-US" sz="1000"/>
                        <a:t>删除指定节点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000"/>
                        <a:t>O(1)</a:t>
                      </a:r>
                      <a:endParaRPr lang="en-US" altLang="zh-CN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已知节点即可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</a:tr>
              <a:tr h="245745">
                <a:tc>
                  <a:txBody>
                    <a:bodyPr/>
                    <a:p>
                      <a:r>
                        <a:rPr lang="zh-CN" altLang="en-US" sz="1000"/>
                        <a:t>搜索节点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000"/>
                        <a:t>O(n)</a:t>
                      </a:r>
                      <a:endParaRPr lang="en-US" altLang="zh-CN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仍需遍历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</a:tr>
              <a:tr h="245745">
                <a:tc>
                  <a:txBody>
                    <a:bodyPr/>
                    <a:p>
                      <a:r>
                        <a:rPr lang="zh-CN" altLang="en-US" sz="1000"/>
                        <a:t>反向遍历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000"/>
                        <a:t>O(n)</a:t>
                      </a:r>
                      <a:endParaRPr lang="en-US" altLang="zh-CN" sz="10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000"/>
                        <a:t>但更方便</a:t>
                      </a:r>
                      <a:endParaRPr lang="zh-CN" altLang="en-US" sz="10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85725" y="3732530"/>
          <a:ext cx="3337560" cy="36918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8780"/>
                <a:gridCol w="1668780"/>
              </a:tblGrid>
              <a:tr h="205105"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英文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中文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node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节点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pointer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指针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reference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引用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predecessor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前驱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successor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后继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head / tail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头</a:t>
                      </a:r>
                      <a:r>
                        <a:rPr lang="en-US" altLang="zh-CN" sz="1200" b="0"/>
                        <a:t>/</a:t>
                      </a:r>
                      <a:r>
                        <a:rPr lang="zh-CN" altLang="en-US" sz="1200" b="0"/>
                        <a:t>尾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insertion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插入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deletion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删除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traversal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遍历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doubly linked list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双向链表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singly linked list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单链表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stack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栈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queue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队列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push/pop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入栈</a:t>
                      </a:r>
                      <a:r>
                        <a:rPr lang="en-US" altLang="zh-CN" sz="1200" b="0"/>
                        <a:t>/</a:t>
                      </a:r>
                      <a:r>
                        <a:rPr lang="zh-CN" altLang="en-US" sz="1200" b="0"/>
                        <a:t>出栈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enqueue/dequeue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入队</a:t>
                      </a:r>
                      <a:r>
                        <a:rPr lang="en-US" altLang="zh-CN" sz="1200" b="0"/>
                        <a:t>/</a:t>
                      </a:r>
                      <a:r>
                        <a:rPr lang="zh-CN" altLang="en-US" sz="1200" b="0"/>
                        <a:t>出队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LIFO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后进先出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  <a:tr h="205105">
                <a:tc>
                  <a:txBody>
                    <a:bodyPr/>
                    <a:p>
                      <a:pPr algn="ctr"/>
                      <a:r>
                        <a:rPr lang="en-US" altLang="zh-CN" sz="1200" b="0"/>
                        <a:t>FIFO</a:t>
                      </a:r>
                      <a:endParaRPr lang="en-US" altLang="zh-CN" sz="1200" b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/>
                        <a:t>先进先出</a:t>
                      </a:r>
                      <a:endParaRPr lang="zh-CN" altLang="en-US" sz="1200" b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r="25447"/>
          <a:stretch>
            <a:fillRect/>
          </a:stretch>
        </p:blipFill>
        <p:spPr>
          <a:xfrm>
            <a:off x="3466465" y="0"/>
            <a:ext cx="3391535" cy="44513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r="10536" b="29346"/>
          <a:stretch>
            <a:fillRect/>
          </a:stretch>
        </p:blipFill>
        <p:spPr>
          <a:xfrm>
            <a:off x="3466465" y="4451350"/>
            <a:ext cx="3391535" cy="50069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" y="0"/>
            <a:ext cx="3420745" cy="4166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95" y="4338955"/>
            <a:ext cx="3388360" cy="50850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zh-CN" altLang="en-US" sz="1000" b="1"/>
              <a:t>🧩 </a:t>
            </a:r>
            <a:r>
              <a:rPr lang="en-US" altLang="zh-CN" sz="1000" b="1"/>
              <a:t>5. </a:t>
            </a:r>
            <a:r>
              <a:rPr lang="zh-CN" altLang="en-US" sz="1000" b="1"/>
              <a:t>预测选择题 </a:t>
            </a:r>
            <a:r>
              <a:rPr lang="en-US" altLang="zh-CN" sz="1000" b="1"/>
              <a:t>/ </a:t>
            </a:r>
            <a:r>
              <a:rPr lang="zh-CN" altLang="en-US" sz="1000" b="1"/>
              <a:t>判断题（和你老师 </a:t>
            </a:r>
            <a:r>
              <a:rPr lang="en-US" altLang="zh-CN" sz="1000" b="1"/>
              <a:t>PPT </a:t>
            </a:r>
            <a:r>
              <a:rPr lang="zh-CN" altLang="en-US" sz="1000" b="1"/>
              <a:t>风格一致）</a:t>
            </a:r>
            <a:endParaRPr lang="zh-CN" altLang="en-US" sz="1000" b="1"/>
          </a:p>
          <a:p>
            <a:pPr>
              <a:spcAft>
                <a:spcPct val="60000"/>
              </a:spcAft>
            </a:pPr>
            <a:r>
              <a:rPr lang="en-US" altLang="zh-CN" sz="1000" b="1"/>
              <a:t>✔ </a:t>
            </a:r>
            <a:r>
              <a:rPr lang="zh-CN" altLang="en-US" sz="1000" b="1"/>
              <a:t>判断题</a:t>
            </a:r>
            <a:endParaRPr lang="zh-CN" altLang="en-US" sz="1000" b="1"/>
          </a:p>
          <a:p>
            <a:pPr>
              <a:buAutoNum type="arabicPeriod"/>
            </a:pPr>
            <a:r>
              <a:rPr lang="en-US" altLang="zh-CN" sz="1000"/>
              <a:t>A singly linked list can be traversed backward.</a:t>
            </a:r>
            <a:r>
              <a:rPr lang="zh-CN" altLang="en-US" sz="1000"/>
              <a:t>（</a:t>
            </a:r>
            <a:r>
              <a:rPr lang="en-US" altLang="zh-CN" sz="1000"/>
              <a:t>F</a:t>
            </a:r>
            <a:r>
              <a:rPr lang="zh-CN" altLang="en-US" sz="1000"/>
              <a:t>）</a:t>
            </a:r>
            <a:endParaRPr lang="zh-CN" altLang="en-US" sz="1000"/>
          </a:p>
          <a:p>
            <a:pPr>
              <a:buAutoNum type="arabicPeriod"/>
            </a:pPr>
            <a:endParaRPr lang="zh-CN" altLang="en-US" sz="1000"/>
          </a:p>
          <a:p>
            <a:pPr>
              <a:buAutoNum type="arabicPeriod"/>
            </a:pPr>
            <a:r>
              <a:rPr lang="en-US" altLang="zh-CN" sz="1000"/>
              <a:t>Deleting a given node in doubly linked list is O(1).</a:t>
            </a:r>
            <a:r>
              <a:rPr lang="zh-CN" altLang="en-US" sz="1000"/>
              <a:t>（</a:t>
            </a:r>
            <a:r>
              <a:rPr lang="en-US" altLang="zh-CN" sz="1000"/>
              <a:t>T</a:t>
            </a:r>
            <a:r>
              <a:rPr lang="zh-CN" altLang="en-US" sz="1000"/>
              <a:t>）</a:t>
            </a:r>
            <a:endParaRPr lang="zh-CN" altLang="en-US" sz="1000"/>
          </a:p>
          <a:p>
            <a:pPr>
              <a:buAutoNum type="arabicPeriod"/>
            </a:pPr>
            <a:endParaRPr lang="zh-CN" altLang="en-US" sz="1000"/>
          </a:p>
          <a:p>
            <a:pPr>
              <a:buAutoNum type="arabicPeriod"/>
            </a:pPr>
            <a:r>
              <a:rPr lang="en-US" altLang="zh-CN" sz="1000"/>
              <a:t>Stack follows FIFO.</a:t>
            </a:r>
            <a:r>
              <a:rPr lang="zh-CN" altLang="en-US" sz="1000"/>
              <a:t>（</a:t>
            </a:r>
            <a:r>
              <a:rPr lang="en-US" altLang="zh-CN" sz="1000"/>
              <a:t>F</a:t>
            </a:r>
            <a:r>
              <a:rPr lang="zh-CN" altLang="en-US" sz="1000"/>
              <a:t>）</a:t>
            </a:r>
            <a:endParaRPr lang="zh-CN" altLang="en-US" sz="1000"/>
          </a:p>
          <a:p>
            <a:pPr>
              <a:buAutoNum type="arabicPeriod"/>
            </a:pPr>
            <a:endParaRPr lang="zh-CN" altLang="en-US" sz="1000"/>
          </a:p>
          <a:p>
            <a:pPr>
              <a:buAutoNum type="arabicPeriod"/>
            </a:pPr>
            <a:r>
              <a:rPr lang="en-US" altLang="zh-CN" sz="1000"/>
              <a:t>Queue’s enqueue is O(1).</a:t>
            </a:r>
            <a:r>
              <a:rPr lang="zh-CN" altLang="en-US" sz="1000"/>
              <a:t>（</a:t>
            </a:r>
            <a:r>
              <a:rPr lang="en-US" altLang="zh-CN" sz="1000"/>
              <a:t>T</a:t>
            </a:r>
            <a:r>
              <a:rPr lang="zh-CN" altLang="en-US" sz="1000"/>
              <a:t>）</a:t>
            </a:r>
            <a:endParaRPr lang="zh-CN" altLang="en-US" sz="1000"/>
          </a:p>
          <a:p>
            <a:pPr>
              <a:buAutoNum type="arabicPeriod"/>
            </a:pPr>
            <a:endParaRPr lang="zh-CN" altLang="en-US" sz="1000"/>
          </a:p>
          <a:p>
            <a:pPr>
              <a:buAutoNum type="arabicPeriod"/>
            </a:pPr>
            <a:r>
              <a:rPr lang="en-US" altLang="zh-CN" sz="1000"/>
              <a:t>Array supports constant-time random access.</a:t>
            </a:r>
            <a:r>
              <a:rPr lang="zh-CN" altLang="en-US" sz="1000"/>
              <a:t>（</a:t>
            </a:r>
            <a:r>
              <a:rPr lang="en-US" altLang="zh-CN" sz="1000"/>
              <a:t>T</a:t>
            </a:r>
            <a:r>
              <a:rPr lang="zh-CN" altLang="en-US" sz="1000"/>
              <a:t>）</a:t>
            </a:r>
            <a:endParaRPr lang="zh-CN" altLang="en-US" sz="1000"/>
          </a:p>
          <a:p>
            <a:pPr>
              <a:spcAft>
                <a:spcPct val="60000"/>
              </a:spcAft>
            </a:pPr>
            <a:r>
              <a:rPr lang="en-US" altLang="zh-CN" sz="1000" b="1"/>
              <a:t>✔ </a:t>
            </a:r>
            <a:r>
              <a:rPr lang="zh-CN" altLang="en-US" sz="1000" b="1"/>
              <a:t>选择题</a:t>
            </a:r>
            <a:endParaRPr lang="zh-CN" altLang="en-US" sz="1000" b="1"/>
          </a:p>
          <a:p>
            <a:pPr>
              <a:buAutoNum type="arabicPeriod"/>
            </a:pPr>
            <a:r>
              <a:rPr lang="en-US" altLang="zh-CN" sz="1000"/>
              <a:t>Which operation on singly linked list requires O(n)?</a:t>
            </a:r>
            <a:endParaRPr lang="en-US" altLang="zh-CN" sz="1000"/>
          </a:p>
          <a:p>
            <a:r>
              <a:rPr lang="en-US" altLang="zh-CN" sz="1000"/>
              <a:t> A. insert at head</a:t>
            </a:r>
            <a:endParaRPr lang="en-US" altLang="zh-CN" sz="1000"/>
          </a:p>
          <a:p>
            <a:r>
              <a:rPr lang="en-US" altLang="zh-CN" sz="1000"/>
              <a:t> B. delete head</a:t>
            </a:r>
            <a:endParaRPr lang="en-US" altLang="zh-CN" sz="1000"/>
          </a:p>
          <a:p>
            <a:r>
              <a:rPr lang="en-US" altLang="zh-CN" sz="1000"/>
              <a:t> C. search</a:t>
            </a:r>
            <a:endParaRPr lang="en-US" altLang="zh-CN" sz="1000"/>
          </a:p>
          <a:p>
            <a:r>
              <a:rPr lang="en-US" altLang="zh-CN" sz="1000"/>
              <a:t> D. none</a:t>
            </a:r>
            <a:endParaRPr lang="en-US" altLang="zh-CN" sz="1000"/>
          </a:p>
          <a:p>
            <a:r>
              <a:rPr lang="zh-CN" altLang="en-US" sz="1000"/>
              <a:t>答案：</a:t>
            </a:r>
            <a:r>
              <a:rPr lang="en-US" altLang="zh-CN" sz="1000"/>
              <a:t>C</a:t>
            </a:r>
            <a:endParaRPr lang="en-US" altLang="zh-CN" sz="1000"/>
          </a:p>
          <a:p>
            <a:pPr>
              <a:buAutoNum type="arabicPeriod"/>
            </a:pPr>
            <a:r>
              <a:rPr lang="en-US" altLang="zh-CN" sz="1000"/>
              <a:t>What is the advantage of doubly linked list?</a:t>
            </a:r>
            <a:endParaRPr lang="en-US" altLang="zh-CN" sz="1000"/>
          </a:p>
          <a:p>
            <a:r>
              <a:rPr lang="en-US" altLang="zh-CN" sz="1000"/>
              <a:t> A. less memory</a:t>
            </a:r>
            <a:endParaRPr lang="en-US" altLang="zh-CN" sz="1000"/>
          </a:p>
          <a:p>
            <a:r>
              <a:rPr lang="en-US" altLang="zh-CN" sz="1000"/>
              <a:t> B. backward traversal</a:t>
            </a:r>
            <a:endParaRPr lang="en-US" altLang="zh-CN" sz="1000"/>
          </a:p>
          <a:p>
            <a:r>
              <a:rPr lang="en-US" altLang="zh-CN" sz="1000"/>
              <a:t> C. faster indexing</a:t>
            </a:r>
            <a:endParaRPr lang="en-US" altLang="zh-CN" sz="1000"/>
          </a:p>
          <a:p>
            <a:r>
              <a:rPr lang="en-US" altLang="zh-CN" sz="1000"/>
              <a:t> D. no need for pointers</a:t>
            </a:r>
            <a:endParaRPr lang="en-US" altLang="zh-CN" sz="1000"/>
          </a:p>
          <a:p>
            <a:r>
              <a:rPr lang="zh-CN" altLang="en-US" sz="1000"/>
              <a:t>答案：</a:t>
            </a:r>
            <a:r>
              <a:rPr lang="en-US" altLang="zh-CN" sz="1000"/>
              <a:t>B</a:t>
            </a:r>
            <a:endParaRPr lang="en-US" altLang="zh-CN" sz="1000"/>
          </a:p>
          <a:p>
            <a:pPr>
              <a:buAutoNum type="arabicPeriod"/>
            </a:pPr>
            <a:r>
              <a:rPr lang="en-US" altLang="zh-CN" sz="1000"/>
              <a:t>Stack is best implemented by:</a:t>
            </a:r>
            <a:endParaRPr lang="en-US" altLang="zh-CN" sz="1000"/>
          </a:p>
          <a:p>
            <a:r>
              <a:rPr lang="en-US" altLang="zh-CN" sz="1000"/>
              <a:t> A. array</a:t>
            </a:r>
            <a:endParaRPr lang="en-US" altLang="zh-CN" sz="1000"/>
          </a:p>
          <a:p>
            <a:r>
              <a:rPr lang="en-US" altLang="zh-CN" sz="1000"/>
              <a:t> B. linked list</a:t>
            </a:r>
            <a:endParaRPr lang="en-US" altLang="zh-CN" sz="1000"/>
          </a:p>
          <a:p>
            <a:r>
              <a:rPr lang="en-US" altLang="zh-CN" sz="1000"/>
              <a:t> C. tree</a:t>
            </a:r>
            <a:endParaRPr lang="en-US" altLang="zh-CN" sz="1000"/>
          </a:p>
          <a:p>
            <a:r>
              <a:rPr lang="en-US" altLang="zh-CN" sz="1000"/>
              <a:t> D. graph</a:t>
            </a:r>
            <a:endParaRPr lang="en-US" altLang="zh-CN" sz="1000"/>
          </a:p>
          <a:p>
            <a:r>
              <a:rPr lang="zh-CN" altLang="en-US" sz="1000"/>
              <a:t>答案：</a:t>
            </a:r>
            <a:r>
              <a:rPr lang="en-US" altLang="zh-CN" sz="1000"/>
              <a:t>A </a:t>
            </a:r>
            <a:r>
              <a:rPr lang="zh-CN" altLang="en-US" sz="1000"/>
              <a:t>或 </a:t>
            </a:r>
            <a:r>
              <a:rPr lang="en-US" altLang="zh-CN" sz="1000"/>
              <a:t>B </a:t>
            </a:r>
            <a:r>
              <a:rPr lang="zh-CN" altLang="en-US" sz="1000"/>
              <a:t>都可，你课程一般选 </a:t>
            </a:r>
            <a:r>
              <a:rPr lang="en-US" altLang="zh-CN" sz="1000"/>
              <a:t>A</a:t>
            </a:r>
            <a:endParaRPr lang="en-US" altLang="zh-CN" sz="1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TABLE_ENDDRAG_ORIGIN_RECT" val="271*113"/>
  <p:tag name="TABLE_ENDDRAG_RECT" val="1*305*271*113"/>
</p:tagLst>
</file>

<file path=ppt/tags/tag65.xml><?xml version="1.0" encoding="utf-8"?>
<p:tagLst xmlns:p="http://schemas.openxmlformats.org/presentationml/2006/main">
  <p:tag name="TABLE_ENDDRAG_ORIGIN_RECT" val="269*92"/>
  <p:tag name="TABLE_ENDDRAG_RECT" val="0*418*269*92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TABLE_ENDDRAG_ORIGIN_RECT" val="273*106"/>
  <p:tag name="TABLE_ENDDRAG_RECT" val="0*149*273*106"/>
</p:tagLst>
</file>

<file path=ppt/tags/tag69.xml><?xml version="1.0" encoding="utf-8"?>
<p:tagLst xmlns:p="http://schemas.openxmlformats.org/presentationml/2006/main">
  <p:tag name="TABLE_ENDDRAG_ORIGIN_RECT" val="254*65"/>
  <p:tag name="TABLE_ENDDRAG_RECT" val="2*273*254*65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TABLE_ENDDRAG_ORIGIN_RECT" val="263*76"/>
  <p:tag name="TABLE_ENDDRAG_RECT" val="7*645*263*76"/>
</p:tagLst>
</file>

<file path=ppt/tags/tag72.xml><?xml version="1.0" encoding="utf-8"?>
<p:tagLst xmlns:p="http://schemas.openxmlformats.org/presentationml/2006/main">
  <p:tag name="TABLE_ENDDRAG_ORIGIN_RECT" val="270*75"/>
  <p:tag name="TABLE_ENDDRAG_RECT" val="270*118*270*75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TABLE_ENDDRAG_ORIGIN_RECT" val="266*56"/>
  <p:tag name="TABLE_ENDDRAG_RECT" val="3*109*266*56"/>
</p:tagLst>
</file>

<file path=ppt/tags/tag75.xml><?xml version="1.0" encoding="utf-8"?>
<p:tagLst xmlns:p="http://schemas.openxmlformats.org/presentationml/2006/main">
  <p:tag name="TABLE_ENDDRAG_ORIGIN_RECT" val="262*96"/>
  <p:tag name="TABLE_ENDDRAG_RECT" val="7*174*262*96"/>
</p:tagLst>
</file>

<file path=ppt/tags/tag76.xml><?xml version="1.0" encoding="utf-8"?>
<p:tagLst xmlns:p="http://schemas.openxmlformats.org/presentationml/2006/main">
  <p:tag name="TABLE_ENDDRAG_ORIGIN_RECT" val="262*290"/>
  <p:tag name="TABLE_ENDDRAG_RECT" val="5*324*262*290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2554</Words>
  <Application>WPS 演示</Application>
  <PresentationFormat>宽屏</PresentationFormat>
  <Paragraphs>391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周天意</cp:lastModifiedBy>
  <cp:revision>156</cp:revision>
  <dcterms:created xsi:type="dcterms:W3CDTF">2019-06-19T02:08:00Z</dcterms:created>
  <dcterms:modified xsi:type="dcterms:W3CDTF">2025-11-14T07:06:25Z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DA7D01DBE7C14438831D2761228608AD_11</vt:lpwstr>
  </property>
</Properties>
</file>