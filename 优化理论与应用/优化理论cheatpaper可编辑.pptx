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20" userDrawn="1">
          <p15:clr>
            <a:srgbClr val="A4A3A4"/>
          </p15:clr>
        </p15:guide>
        <p15:guide id="2" pos="1578" userDrawn="1">
          <p15:clr>
            <a:srgbClr val="A4A3A4"/>
          </p15:clr>
        </p15:guide>
        <p15:guide id="3" pos="4662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3524" autoAdjust="0"/>
  </p:normalViewPr>
  <p:slideViewPr>
    <p:cSldViewPr snapToGrid="0">
      <p:cViewPr>
        <p:scale>
          <a:sx n="200" d="100"/>
          <a:sy n="200" d="100"/>
        </p:scale>
        <p:origin x="-5442" y="-1641"/>
      </p:cViewPr>
      <p:guideLst>
        <p:guide pos="3120"/>
        <p:guide pos="1578"/>
        <p:guide pos="4662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9AA4-27FC-4A35-9957-6C23B41040CF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740-944B-4382-9BE5-FF4E4EBF6E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432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9AA4-27FC-4A35-9957-6C23B41040CF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740-944B-4382-9BE5-FF4E4EBF6E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460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9AA4-27FC-4A35-9957-6C23B41040CF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740-944B-4382-9BE5-FF4E4EBF6E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572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9AA4-27FC-4A35-9957-6C23B41040CF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740-944B-4382-9BE5-FF4E4EBF6E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878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9AA4-27FC-4A35-9957-6C23B41040CF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740-944B-4382-9BE5-FF4E4EBF6E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091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9AA4-27FC-4A35-9957-6C23B41040CF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740-944B-4382-9BE5-FF4E4EBF6E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397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9AA4-27FC-4A35-9957-6C23B41040CF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740-944B-4382-9BE5-FF4E4EBF6E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794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9AA4-27FC-4A35-9957-6C23B41040CF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740-944B-4382-9BE5-FF4E4EBF6E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83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9AA4-27FC-4A35-9957-6C23B41040CF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740-944B-4382-9BE5-FF4E4EBF6E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045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9AA4-27FC-4A35-9957-6C23B41040CF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740-944B-4382-9BE5-FF4E4EBF6E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774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9AA4-27FC-4A35-9957-6C23B41040CF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CE740-944B-4382-9BE5-FF4E4EBF6E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272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039AA4-27FC-4A35-9957-6C23B41040CF}" type="datetimeFigureOut">
              <a:rPr lang="zh-CN" altLang="en-US" smtClean="0"/>
              <a:t>2026/6/28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2CE740-944B-4382-9BE5-FF4E4EBF6E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384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79333ED-A646-A636-5868-E1005D755B2E}"/>
                  </a:ext>
                </a:extLst>
              </p:cNvPr>
              <p:cNvSpPr txBox="1"/>
              <p:nvPr/>
            </p:nvSpPr>
            <p:spPr>
              <a:xfrm>
                <a:off x="-71543" y="-40494"/>
                <a:ext cx="2576618" cy="14613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buNone/>
                </a:pPr>
                <a:r>
                  <a:rPr lang="zh-CN" altLang="zh-CN" sz="500" b="1" dirty="0">
                    <a:solidFill>
                      <a:srgbClr val="333333"/>
                    </a:solidFill>
                    <a:latin typeface="Open Sans" panose="020F0502020204030204" pitchFamily="34" charset="0"/>
                  </a:rPr>
                  <a:t>Unit 3：Portfolio Optimization</a:t>
                </a:r>
              </a:p>
              <a:p>
                <a:pPr algn="l">
                  <a:buNone/>
                </a:pPr>
                <a:r>
                  <a:rPr lang="zh-CN" altLang="zh-CN" sz="500" b="1" dirty="0">
                    <a:solidFill>
                      <a:srgbClr val="333333"/>
                    </a:solidFill>
                    <a:latin typeface="Open Sans" panose="020F0502020204030204" pitchFamily="34" charset="0"/>
                  </a:rPr>
                  <a:t>3.1：Markowitz 均值-方差模型</a:t>
                </a:r>
              </a:p>
              <a:p>
                <a:pPr algn="l">
                  <a:buNone/>
                </a:pPr>
                <a:r>
                  <a:rPr lang="zh-CN" altLang="zh-CN" sz="500" dirty="0">
                    <a:solidFill>
                      <a:srgbClr val="333333"/>
                    </a:solidFill>
                    <a:latin typeface="Open Sans" panose="020F0502020204030204" pitchFamily="34" charset="0"/>
                  </a:rPr>
                  <a:t>给定 n 支股票，在预算 B 内决定每支股票的投资金额 x_i，使投资组合方差最小，同时期望收益不低于目标 \beta，且不允许卖空。</a:t>
                </a:r>
                <a:endParaRPr lang="en-US" altLang="zh-CN" sz="500" dirty="0">
                  <a:solidFill>
                    <a:srgbClr val="333333"/>
                  </a:solidFill>
                  <a:latin typeface="Open Sans" panose="020F0502020204030204" pitchFamily="34" charset="0"/>
                </a:endParaRPr>
              </a:p>
              <a:p>
                <a:r>
                  <a:rPr lang="zh-CN" altLang="zh-CN" sz="400" b="1" dirty="0"/>
                  <a:t>参数：</a:t>
                </a:r>
                <a:endParaRPr lang="zh-CN" altLang="zh-CN" sz="400" dirty="0"/>
              </a:p>
              <a:p>
                <a:pPr lvl="0"/>
                <a14:m>
                  <m:oMath xmlns:m="http://schemas.openxmlformats.org/officeDocument/2006/math">
                    <m:r>
                      <a:rPr lang="zh-CN" altLang="en-US" sz="400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zh-CN" altLang="zh-CN" sz="400" dirty="0"/>
                  <a:t>：股票，</a:t>
                </a:r>
                <a14:m>
                  <m:oMath xmlns:m="http://schemas.openxmlformats.org/officeDocument/2006/math">
                    <m:r>
                      <a:rPr lang="zh-CN" altLang="en-US" sz="4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4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4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40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zh-CN" altLang="en-US" sz="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CN" altLang="en-US" sz="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00" b="1" i="1" smtClean="0">
                            <a:latin typeface="Cambria Math" panose="02040503050406030204" pitchFamily="18" charset="0"/>
                          </a:rPr>
                          <m:t>       </m:t>
                        </m:r>
                        <m:r>
                          <a:rPr lang="zh-CN" altLang="en-US" sz="400" b="1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zh-CN" altLang="en-US" sz="4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400" dirty="0"/>
                  <a:t>：股票 </a:t>
                </a:r>
                <a14:m>
                  <m:oMath xmlns:m="http://schemas.openxmlformats.org/officeDocument/2006/math">
                    <m:r>
                      <a:rPr lang="zh-CN" altLang="en-US" sz="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400" dirty="0"/>
                  <a:t> </a:t>
                </a:r>
                <a:r>
                  <a:rPr lang="zh-CN" altLang="zh-CN" sz="400" dirty="0"/>
                  <a:t>的期望收益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400" b="1" i="1"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zh-CN" altLang="en-US" sz="400" b="1" i="1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r>
                  <a:rPr lang="zh-CN" altLang="zh-CN" sz="400" dirty="0"/>
                  <a:t>：股票 </a:t>
                </a:r>
                <a14:m>
                  <m:oMath xmlns:m="http://schemas.openxmlformats.org/officeDocument/2006/math">
                    <m:r>
                      <a:rPr lang="zh-CN" altLang="en-US" sz="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400" dirty="0"/>
                  <a:t> </a:t>
                </a:r>
                <a:r>
                  <a:rPr lang="zh-CN" altLang="zh-CN" sz="400" dirty="0"/>
                  <a:t>与 </a:t>
                </a:r>
                <a14:m>
                  <m:oMath xmlns:m="http://schemas.openxmlformats.org/officeDocument/2006/math">
                    <m:r>
                      <a:rPr lang="zh-CN" altLang="en-US" sz="4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400" dirty="0"/>
                  <a:t> </a:t>
                </a:r>
                <a:r>
                  <a:rPr lang="zh-CN" altLang="zh-CN" sz="400" dirty="0"/>
                  <a:t>的协方差（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40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altLang="zh-CN" sz="400" dirty="0"/>
                  <a:t> </a:t>
                </a:r>
                <a:r>
                  <a:rPr lang="zh-CN" altLang="zh-CN" sz="400" dirty="0"/>
                  <a:t>为协方差矩阵）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zh-CN" altLang="en-US" sz="400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zh-CN" altLang="zh-CN" sz="400" dirty="0"/>
                  <a:t>：投资预算</a:t>
                </a:r>
                <a:r>
                  <a:rPr lang="en-US" altLang="zh-CN" sz="400" dirty="0"/>
                  <a:t>               </a:t>
                </a:r>
                <a14:m>
                  <m:oMath xmlns:m="http://schemas.openxmlformats.org/officeDocument/2006/math">
                    <m:r>
                      <a:rPr lang="zh-CN" altLang="en-US" sz="400" b="1" i="1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zh-CN" altLang="zh-CN" sz="400" dirty="0"/>
                  <a:t>：目标期望收益</a:t>
                </a:r>
                <a:endParaRPr lang="en-US" altLang="zh-CN" sz="400" dirty="0"/>
              </a:p>
              <a:p>
                <a:r>
                  <a:rPr lang="zh-CN" altLang="zh-CN" sz="500" b="1" dirty="0"/>
                  <a:t>目标函数：</a:t>
                </a:r>
                <a14:m>
                  <m:oMath xmlns:m="http://schemas.openxmlformats.org/officeDocument/2006/math">
                    <m:r>
                      <a:rPr lang="en-US" altLang="zh-CN" sz="500" b="1" i="1">
                        <a:latin typeface="Cambria Math" panose="02040503050406030204" pitchFamily="18" charset="0"/>
                      </a:rPr>
                      <m:t>𝐦𝐢𝐧</m:t>
                    </m:r>
                    <m:r>
                      <a:rPr lang="zh-CN" altLang="en-US" sz="500" b="1" i="1">
                        <a:latin typeface="Cambria Math" panose="02040503050406030204" pitchFamily="18" charset="0"/>
                      </a:rPr>
                      <m:t> 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en-US" sz="5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altLang="zh-CN" sz="500" b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5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𝝈</m:t>
                                </m:r>
                              </m:e>
                              <m:sub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𝒊𝒋</m:t>
                                </m:r>
                              </m:sub>
                            </m:sSub>
                          </m:e>
                        </m:nary>
                      </m:e>
                    </m:nary>
                    <m:sSub>
                      <m:sSubPr>
                        <m:ctrlPr>
                          <a:rPr lang="zh-CN" altLang="en-US" sz="5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sSub>
                      <m:sSubPr>
                        <m:ctrlPr>
                          <a:rPr lang="zh-CN" altLang="en-US" sz="5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zh-CN" altLang="en-US" sz="500" b="1" i="1">
                        <a:latin typeface="Cambria Math" panose="02040503050406030204" pitchFamily="18" charset="0"/>
                      </a:rPr>
                      <m:t> </m:t>
                    </m:r>
                    <m:r>
                      <a:rPr lang="en-US" altLang="zh-CN" sz="500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500" b="1" i="1">
                        <a:latin typeface="Cambria Math" panose="02040503050406030204" pitchFamily="18" charset="0"/>
                      </a:rPr>
                      <m:t> </m:t>
                    </m:r>
                    <m:sSup>
                      <m:sSupPr>
                        <m:ctrlPr>
                          <a:rPr lang="zh-CN" altLang="en-US" sz="5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altLang="zh-CN" sz="500" b="1" i="1">
                        <a:latin typeface="Cambria Math" panose="02040503050406030204" pitchFamily="18" charset="0"/>
                      </a:rPr>
                      <m:t>𝚺</m:t>
                    </m:r>
                    <m:r>
                      <a:rPr lang="zh-CN" altLang="en-US" sz="5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zh-CN" altLang="zh-CN" sz="500" b="1" dirty="0"/>
              </a:p>
              <a:p>
                <a:r>
                  <a:rPr lang="zh-CN" altLang="zh-CN" sz="500" b="1" dirty="0"/>
                  <a:t>约束条件：</a:t>
                </a:r>
                <a14:m>
                  <m:oMath xmlns:m="http://schemas.openxmlformats.org/officeDocument/2006/math">
                    <m:eqArr>
                      <m:eqArrPr>
                        <m:ctrlPr>
                          <a:rPr lang="zh-CN" altLang="en-US" sz="700" b="1" i="1" smtClean="0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7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7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CN" sz="700" b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7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zh-CN" altLang="en-US" sz="7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7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7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zh-CN" altLang="en-US" sz="7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  <m:r>
                          <a:rPr lang="zh-CN" altLang="en-US" sz="700" b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sz="700" b="1" i="1">
                            <a:latin typeface="Cambria Math" panose="02040503050406030204" pitchFamily="18" charset="0"/>
                          </a:rPr>
                          <m:t>𝑩</m:t>
                        </m:r>
                        <m:r>
                          <a:rPr lang="zh-CN" altLang="en-US" sz="7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700" b="1"/>
                          <m:t>（</m:t>
                        </m:r>
                        <m:r>
                          <m:rPr>
                            <m:nor/>
                          </m:rPr>
                          <a:rPr lang="zh-CN" altLang="en-US" sz="700" b="1"/>
                          <m:t>预算约束</m:t>
                        </m:r>
                        <m:r>
                          <m:rPr>
                            <m:nor/>
                          </m:rPr>
                          <a:rPr lang="zh-CN" altLang="en-US" sz="700" b="1"/>
                          <m:t>）</m:t>
                        </m:r>
                      </m:e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7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7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CN" sz="700" b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7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zh-CN" altLang="en-US" sz="7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7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700" b="1" i="1"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zh-CN" altLang="en-US" sz="700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nary>
                        <m:sSub>
                          <m:sSubPr>
                            <m:ctrlPr>
                              <a:rPr lang="zh-CN" altLang="en-US" sz="7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7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sz="7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zh-CN" altLang="en-US" sz="700" b="1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zh-CN" altLang="en-US" sz="700" b="1" i="1">
                            <a:latin typeface="Cambria Math" panose="02040503050406030204" pitchFamily="18" charset="0"/>
                          </a:rPr>
                          <m:t>𝜷</m:t>
                        </m:r>
                        <m:r>
                          <a:rPr lang="zh-CN" altLang="en-US" sz="7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700" b="1"/>
                          <m:t>（</m:t>
                        </m:r>
                        <m:r>
                          <m:rPr>
                            <m:nor/>
                          </m:rPr>
                          <a:rPr lang="zh-CN" altLang="en-US" sz="700" b="1"/>
                          <m:t>收益目标</m:t>
                        </m:r>
                        <m:r>
                          <m:rPr>
                            <m:nor/>
                          </m:rPr>
                          <a:rPr lang="zh-CN" altLang="en-US" sz="700" b="1"/>
                          <m:t>）</m:t>
                        </m:r>
                      </m:e>
                      <m:e>
                        <m:sSub>
                          <m:sSubPr>
                            <m:ctrlPr>
                              <a:rPr lang="zh-CN" altLang="en-US" sz="7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7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sz="7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zh-CN" altLang="en-US" sz="700" b="1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7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7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7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zh-CN" altLang="en-US" sz="700" b="1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zh-CN" altLang="en-US" sz="7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zh-CN" altLang="en-US" sz="7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700" b="1"/>
                          <m:t>（</m:t>
                        </m:r>
                        <m:r>
                          <m:rPr>
                            <m:nor/>
                          </m:rPr>
                          <a:rPr lang="zh-CN" altLang="en-US" sz="700" b="1"/>
                          <m:t>无卖空</m:t>
                        </m:r>
                        <m:r>
                          <m:rPr>
                            <m:nor/>
                          </m:rPr>
                          <a:rPr lang="zh-CN" altLang="en-US" sz="700" b="1"/>
                          <m:t>）</m:t>
                        </m:r>
                      </m:e>
                    </m:eqArr>
                  </m:oMath>
                </a14:m>
                <a:endParaRPr lang="zh-CN" altLang="zh-CN" sz="500" b="1" dirty="0"/>
              </a:p>
              <a:p>
                <a:pPr lvl="0"/>
                <a:endParaRPr lang="zh-CN" altLang="zh-CN" sz="500" dirty="0"/>
              </a:p>
              <a:p>
                <a:pPr algn="l">
                  <a:buNone/>
                </a:pPr>
                <a:br>
                  <a:rPr lang="en-US" altLang="zh-CN" sz="600" dirty="0">
                    <a:solidFill>
                      <a:srgbClr val="333333"/>
                    </a:solidFill>
                    <a:latin typeface="Open Sans" panose="020F0502020204030204" pitchFamily="34" charset="0"/>
                  </a:rPr>
                </a:br>
                <a:endParaRPr lang="en-US" altLang="zh-CN" sz="600" b="1" dirty="0">
                  <a:solidFill>
                    <a:srgbClr val="333333"/>
                  </a:solidFill>
                  <a:latin typeface="Open Sans" panose="020F0502020204030204" pitchFamily="34" charset="0"/>
                </a:endParaRPr>
              </a:p>
              <a:p>
                <a:pPr algn="l">
                  <a:buNone/>
                </a:pPr>
                <a:endParaRPr lang="zh-CN" altLang="zh-CN" sz="722" dirty="0">
                  <a:solidFill>
                    <a:srgbClr val="333333"/>
                  </a:solidFill>
                  <a:latin typeface="Open Sans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79333ED-A646-A636-5868-E1005D755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1543" y="-40494"/>
                <a:ext cx="2576618" cy="146136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8498726-656F-BFA3-E477-EE8321949852}"/>
                  </a:ext>
                </a:extLst>
              </p:cNvPr>
              <p:cNvSpPr txBox="1"/>
              <p:nvPr/>
            </p:nvSpPr>
            <p:spPr>
              <a:xfrm>
                <a:off x="2319339" y="-33341"/>
                <a:ext cx="2655993" cy="147239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buNone/>
                </a:pPr>
                <a:r>
                  <a:rPr lang="en-US" altLang="zh-CN" sz="500" b="1" dirty="0">
                    <a:solidFill>
                      <a:srgbClr val="333333"/>
                    </a:solidFill>
                    <a:latin typeface="Open Sans" panose="020F0502020204030204" pitchFamily="34" charset="0"/>
                  </a:rPr>
                  <a:t>3.2</a:t>
                </a:r>
                <a:r>
                  <a:rPr lang="zh-CN" altLang="en-US" sz="500" b="1" dirty="0">
                    <a:solidFill>
                      <a:srgbClr val="333333"/>
                    </a:solidFill>
                    <a:latin typeface="Open Sans" panose="020F0502020204030204" pitchFamily="34" charset="0"/>
                  </a:rPr>
                  <a:t>：</a:t>
                </a:r>
                <a:r>
                  <a:rPr lang="en-US" altLang="zh-CN" sz="500" b="1" dirty="0">
                    <a:solidFill>
                      <a:srgbClr val="333333"/>
                    </a:solidFill>
                    <a:latin typeface="Open Sans" panose="020F0502020204030204" pitchFamily="34" charset="0"/>
                  </a:rPr>
                  <a:t>Portfolio Optimization II — </a:t>
                </a:r>
                <a:r>
                  <a:rPr lang="zh-CN" altLang="en-US" sz="500" b="1" dirty="0">
                    <a:solidFill>
                      <a:srgbClr val="333333"/>
                    </a:solidFill>
                    <a:latin typeface="Open Sans" panose="020F0502020204030204" pitchFamily="34" charset="0"/>
                  </a:rPr>
                  <a:t>最大化达到目标收益的概率</a:t>
                </a:r>
              </a:p>
              <a:p>
                <a:pPr algn="l">
                  <a:buNone/>
                </a:pPr>
                <a:r>
                  <a:rPr lang="zh-CN" altLang="en-US" sz="500" dirty="0">
                    <a:solidFill>
                      <a:srgbClr val="333333"/>
                    </a:solidFill>
                    <a:latin typeface="Open Sans" panose="020F0502020204030204" pitchFamily="34" charset="0"/>
                  </a:rPr>
                  <a:t>在同样的投资决策框架下，不再最小化方差，而是最大化投资组合收益不低于目标 </a:t>
                </a:r>
                <a:r>
                  <a:rPr lang="en-US" altLang="zh-CN" sz="500" dirty="0">
                    <a:solidFill>
                      <a:srgbClr val="333333"/>
                    </a:solidFill>
                    <a:latin typeface="Open Sans" panose="020F0502020204030204" pitchFamily="34" charset="0"/>
                  </a:rPr>
                  <a:t>$\beta$ </a:t>
                </a:r>
                <a:r>
                  <a:rPr lang="zh-CN" altLang="en-US" sz="500" dirty="0">
                    <a:solidFill>
                      <a:srgbClr val="333333"/>
                    </a:solidFill>
                    <a:latin typeface="Open Sans" panose="020F0502020204030204" pitchFamily="34" charset="0"/>
                  </a:rPr>
                  <a:t>的概率。在正态分布假设下，可转化为一个可求解的优化问题。</a:t>
                </a:r>
                <a:endParaRPr lang="en-US" altLang="zh-CN" sz="500" dirty="0">
                  <a:solidFill>
                    <a:srgbClr val="333333"/>
                  </a:solidFill>
                  <a:latin typeface="Open Sans" panose="020F0502020204030204" pitchFamily="34" charset="0"/>
                </a:endParaRPr>
              </a:p>
              <a:p>
                <a:r>
                  <a:rPr lang="zh-CN" altLang="zh-CN" sz="500" dirty="0"/>
                  <a:t>假设股票收益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</m:acc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服从多元正态分布，则：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500">
                          <a:latin typeface="Cambria Math" panose="02040503050406030204" pitchFamily="18" charset="0"/>
                        </a:rPr>
                        <m:t>ℙ</m:t>
                      </m:r>
                      <m:r>
                        <a:rPr lang="en-US" altLang="zh-CN" sz="500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en-US" sz="5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̃"/>
                              <m:ctrlP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500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e>
                        <m:sup>
                          <m:r>
                            <a:rPr lang="zh-CN" altLang="en-US" sz="50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  <m:r>
                        <a:rPr lang="zh-CN" altLang="en-US" sz="500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zh-CN" altLang="en-US" sz="50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zh-CN" altLang="en-US" sz="5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zh-CN" sz="500">
                          <a:latin typeface="Cambria Math" panose="02040503050406030204" pitchFamily="18" charset="0"/>
                        </a:rPr>
                        <m:t>]=</m:t>
                      </m:r>
                      <m:r>
                        <m:rPr>
                          <m:sty m:val="p"/>
                        </m:rPr>
                        <a:rPr lang="en-US" altLang="zh-CN" sz="500"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zh-CN" altLang="en-US" sz="500" i="1">
                          <a:latin typeface="Cambria Math" panose="02040503050406030204" pitchFamily="18" charset="0"/>
                        </a:rPr>
                        <m:t>​</m:t>
                      </m:r>
                      <m:d>
                        <m:dPr>
                          <m:ctrlPr>
                            <a:rPr lang="zh-CN" altLang="en-US" sz="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5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500" b="1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p>
                                  <m:r>
                                    <a:rPr lang="zh-CN" altLang="en-US" sz="500">
                                      <a:latin typeface="Cambria Math" panose="02040503050406030204" pitchFamily="18" charset="0"/>
                                    </a:rPr>
                                    <m:t>⊤</m:t>
                                  </m:r>
                                </m:sup>
                              </m:sSup>
                              <m:r>
                                <a:rPr lang="zh-CN" altLang="en-US" sz="5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zh-CN" altLang="en-US" sz="5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en-US" sz="5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zh-CN" altLang="en-US" sz="5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5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zh-CN" altLang="en-US" sz="500">
                                          <a:latin typeface="Cambria Math" panose="02040503050406030204" pitchFamily="18" charset="0"/>
                                        </a:rPr>
                                        <m:t>⊤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US" altLang="zh-CN" sz="500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  <m:r>
                                    <a:rPr lang="zh-CN" altLang="en-US" sz="500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zh-CN" altLang="zh-CN" sz="500" dirty="0"/>
              </a:p>
              <a:p>
                <a:r>
                  <a:rPr lang="zh-CN" altLang="zh-CN" sz="500" dirty="0"/>
                  <a:t>最大化该概率等价于最大化括号内的值（</a:t>
                </a:r>
                <a:r>
                  <a:rPr lang="en-US" altLang="zh-CN" sz="500" dirty="0"/>
                  <a:t>Sharpe ratio </a:t>
                </a:r>
                <a:r>
                  <a:rPr lang="zh-CN" altLang="zh-CN" sz="500" dirty="0"/>
                  <a:t>形式）。进一步变量替换：令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p>
                        <m:r>
                          <a:rPr lang="zh-CN" altLang="en-US" sz="50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zh-CN" altLang="en-US" sz="5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zh-CN" altLang="en-US" sz="500">
                        <a:latin typeface="Cambria Math" panose="02040503050406030204" pitchFamily="18" charset="0"/>
                      </a:rPr>
                      <m:t>−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zh-CN" sz="500" dirty="0"/>
                  <a:t>，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altLang="zh-CN" sz="5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5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/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zh-CN" sz="500" dirty="0"/>
                  <a:t>，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/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zh-CN" altLang="zh-CN" sz="500" dirty="0"/>
                  <a:t>，则得：</a:t>
                </a:r>
              </a:p>
              <a:p>
                <a:r>
                  <a:rPr lang="zh-CN" altLang="zh-CN" sz="500" b="1" i="1" dirty="0"/>
                  <a:t>数学建模（转化后的二次优化问题）</a:t>
                </a:r>
              </a:p>
              <a:p>
                <a:r>
                  <a:rPr lang="zh-CN" altLang="zh-CN" sz="500" b="1" dirty="0"/>
                  <a:t>决策变量：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‾"/>
                            <m:ctrlPr>
                              <a:rPr lang="zh-CN" altLang="en-US" sz="5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5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500" dirty="0"/>
                  <a:t>：辅助变量（与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成正比）</a:t>
                </a:r>
                <a:r>
                  <a:rPr lang="en-US" altLang="zh-CN" sz="500" dirty="0"/>
                  <a:t>;</a:t>
                </a:r>
                <a14:m>
                  <m:oMath xmlns:m="http://schemas.openxmlformats.org/officeDocument/2006/math">
                    <m:r>
                      <a:rPr lang="en-US" altLang="zh-CN" sz="5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zh-CN" altLang="en-US" sz="50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zh-CN" sz="500" dirty="0"/>
                  <a:t>：辅助变量</a:t>
                </a:r>
              </a:p>
              <a:p>
                <a:r>
                  <a:rPr lang="zh-CN" altLang="zh-CN" sz="500" b="1" dirty="0"/>
                  <a:t>目标函数：</a:t>
                </a:r>
                <a14:m>
                  <m:oMath xmlns:m="http://schemas.openxmlformats.org/officeDocument/2006/math">
                    <m:r>
                      <a:rPr lang="en-US" altLang="zh-CN" sz="500" b="1" i="1">
                        <a:latin typeface="Cambria Math" panose="02040503050406030204" pitchFamily="18" charset="0"/>
                      </a:rPr>
                      <m:t>𝐦𝐢𝐧</m:t>
                    </m:r>
                    <m:r>
                      <a:rPr lang="zh-CN" altLang="en-US" sz="500" b="1" i="1">
                        <a:latin typeface="Cambria Math" panose="02040503050406030204" pitchFamily="18" charset="0"/>
                      </a:rPr>
                      <m:t> </m:t>
                    </m:r>
                    <m:sSup>
                      <m:sSupPr>
                        <m:ctrlPr>
                          <a:rPr lang="zh-CN" altLang="en-US" sz="5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‾"/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  <m:sup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lang="en-US" altLang="zh-CN" sz="500" b="1" i="1">
                        <a:latin typeface="Cambria Math" panose="02040503050406030204" pitchFamily="18" charset="0"/>
                      </a:rPr>
                      <m:t>𝚺</m:t>
                    </m:r>
                    <m:acc>
                      <m:accPr>
                        <m:chr m:val="‾"/>
                        <m:ctrlPr>
                          <a:rPr lang="zh-CN" altLang="en-US" sz="5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endParaRPr lang="zh-CN" altLang="zh-CN" sz="500" b="1" dirty="0"/>
              </a:p>
              <a:p>
                <a:r>
                  <a:rPr lang="zh-CN" altLang="zh-CN" sz="500" b="1" dirty="0"/>
                  <a:t>约束条件：</a:t>
                </a:r>
                <a14:m>
                  <m:oMath xmlns:m="http://schemas.openxmlformats.org/officeDocument/2006/math">
                    <m:eqArr>
                      <m:eqArrPr>
                        <m:ctrlPr>
                          <a:rPr lang="zh-CN" altLang="en-US" sz="600" i="1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6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‾"/>
                                    <m:ctrlPr>
                                      <a:rPr lang="zh-CN" altLang="en-US" sz="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zh-CN" altLang="en-US" sz="6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zh-CN" altLang="en-US" sz="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zh-CN" altLang="en-US" sz="60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sz="6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zh-CN" altLang="en-US" sz="60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zh-CN" altLang="en-US" sz="6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zh-CN" altLang="en-US" sz="600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600"/>
                          <m:t>（</m:t>
                        </m:r>
                        <m:r>
                          <m:rPr>
                            <m:nor/>
                          </m:rPr>
                          <a:rPr lang="zh-CN" altLang="en-US" sz="600"/>
                          <m:t>预算约束</m:t>
                        </m:r>
                        <m:r>
                          <m:rPr>
                            <m:nor/>
                          </m:rPr>
                          <a:rPr lang="zh-CN" altLang="en-US" sz="600"/>
                          <m:t>）</m:t>
                        </m:r>
                      </m:e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6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600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zh-CN" altLang="en-US" sz="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‾"/>
                                <m:ctrlPr>
                                  <a:rPr lang="zh-CN" altLang="en-US" sz="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6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600" i="1">
                            <a:latin typeface="Cambria Math" panose="02040503050406030204" pitchFamily="18" charset="0"/>
                          </a:rPr>
                          <m:t>𝛽</m:t>
                        </m:r>
                        <m:r>
                          <a:rPr lang="zh-CN" altLang="en-US" sz="60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zh-CN" altLang="en-US" sz="6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6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600"/>
                          <m:t>（</m:t>
                        </m:r>
                        <m:r>
                          <m:rPr>
                            <m:nor/>
                          </m:rPr>
                          <a:rPr lang="zh-CN" altLang="en-US" sz="600"/>
                          <m:t>归一化约束</m:t>
                        </m:r>
                        <m:r>
                          <m:rPr>
                            <m:nor/>
                          </m:rPr>
                          <a:rPr lang="zh-CN" altLang="en-US" sz="600"/>
                          <m:t>）</m:t>
                        </m:r>
                      </m:e>
                      <m:e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‾"/>
                                <m:ctrlPr>
                                  <a:rPr lang="zh-CN" altLang="en-US" sz="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6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60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600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zh-CN" altLang="en-US" sz="6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zh-CN" altLang="en-US" sz="60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eqArr>
                  </m:oMath>
                </a14:m>
                <a:endParaRPr lang="zh-CN" altLang="zh-CN" sz="500" dirty="0"/>
              </a:p>
              <a:p>
                <a:r>
                  <a:rPr lang="zh-CN" altLang="zh-CN" sz="500" b="1" dirty="0"/>
                  <a:t>还原实际投资金额：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zh-CN" altLang="en-US" sz="6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600" b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6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‾"/>
                                <m:ctrlPr>
                                  <a:rPr lang="zh-CN" altLang="en-US" sz="6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6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num>
                      <m:den>
                        <m:r>
                          <a:rPr lang="zh-CN" altLang="en-US" sz="600" b="1" i="1">
                            <a:latin typeface="Cambria Math" panose="02040503050406030204" pitchFamily="18" charset="0"/>
                          </a:rPr>
                          <m:t>𝒛</m:t>
                        </m:r>
                      </m:den>
                    </m:f>
                  </m:oMath>
                </a14:m>
                <a:endParaRPr lang="zh-CN" altLang="zh-CN" sz="500" b="1" dirty="0"/>
              </a:p>
              <a:p>
                <a:pPr algn="l">
                  <a:buNone/>
                </a:pPr>
                <a:endParaRPr lang="zh-CN" altLang="zh-CN" sz="500" dirty="0">
                  <a:solidFill>
                    <a:srgbClr val="333333"/>
                  </a:solidFill>
                  <a:latin typeface="Open Sans" panose="020F0502020204030204" pitchFamily="34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8498726-656F-BFA3-E477-EE8321949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9339" y="-33341"/>
                <a:ext cx="2655993" cy="14723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5D0E7D85-3F27-0304-9181-82740CABC3A2}"/>
                  </a:ext>
                </a:extLst>
              </p:cNvPr>
              <p:cNvSpPr txBox="1"/>
              <p:nvPr/>
            </p:nvSpPr>
            <p:spPr>
              <a:xfrm>
                <a:off x="4890669" y="-50019"/>
                <a:ext cx="2621868" cy="15378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buNone/>
                </a:pPr>
                <a:r>
                  <a:rPr lang="en-US" altLang="zh-CN" sz="500" b="1" dirty="0">
                    <a:solidFill>
                      <a:srgbClr val="333333"/>
                    </a:solidFill>
                    <a:latin typeface="Open Sans" panose="020F0502020204030204" pitchFamily="34" charset="0"/>
                  </a:rPr>
                  <a:t>Unit 4</a:t>
                </a:r>
                <a:r>
                  <a:rPr lang="zh-CN" altLang="en-US" sz="500" b="1" dirty="0">
                    <a:solidFill>
                      <a:srgbClr val="333333"/>
                    </a:solidFill>
                    <a:latin typeface="Open Sans" panose="020F0502020204030204" pitchFamily="34" charset="0"/>
                  </a:rPr>
                  <a:t>：</a:t>
                </a:r>
                <a:r>
                  <a:rPr lang="en-US" altLang="zh-CN" sz="500" b="1" dirty="0">
                    <a:solidFill>
                      <a:srgbClr val="333333"/>
                    </a:solidFill>
                    <a:latin typeface="Open Sans" panose="020F0502020204030204" pitchFamily="34" charset="0"/>
                  </a:rPr>
                  <a:t>Facility Location</a:t>
                </a:r>
              </a:p>
              <a:p>
                <a:pPr algn="l">
                  <a:buNone/>
                </a:pPr>
                <a:r>
                  <a:rPr lang="en-US" altLang="zh-CN" sz="500" b="1" dirty="0">
                    <a:solidFill>
                      <a:srgbClr val="333333"/>
                    </a:solidFill>
                    <a:latin typeface="Open Sans" panose="020F0502020204030204" pitchFamily="34" charset="0"/>
                  </a:rPr>
                  <a:t>4.1</a:t>
                </a:r>
                <a:r>
                  <a:rPr lang="zh-CN" altLang="en-US" sz="500" b="1" dirty="0">
                    <a:solidFill>
                      <a:srgbClr val="333333"/>
                    </a:solidFill>
                    <a:latin typeface="Open Sans" panose="020F0502020204030204" pitchFamily="34" charset="0"/>
                  </a:rPr>
                  <a:t>：</a:t>
                </a:r>
                <a:r>
                  <a:rPr lang="en-US" altLang="zh-CN" sz="500" b="1" dirty="0">
                    <a:solidFill>
                      <a:srgbClr val="333333"/>
                    </a:solidFill>
                    <a:latin typeface="Open Sans" panose="020F0502020204030204" pitchFamily="34" charset="0"/>
                  </a:rPr>
                  <a:t>p-Median </a:t>
                </a:r>
                <a:r>
                  <a:rPr lang="zh-CN" altLang="en-US" sz="500" b="1" dirty="0">
                    <a:solidFill>
                      <a:srgbClr val="333333"/>
                    </a:solidFill>
                    <a:latin typeface="Open Sans" panose="020F0502020204030204" pitchFamily="34" charset="0"/>
                  </a:rPr>
                  <a:t>问题</a:t>
                </a:r>
                <a:endParaRPr lang="en-US" altLang="zh-CN" sz="500" b="1" dirty="0">
                  <a:solidFill>
                    <a:srgbClr val="333333"/>
                  </a:solidFill>
                  <a:latin typeface="Open Sans" panose="020F0502020204030204" pitchFamily="34" charset="0"/>
                </a:endParaRPr>
              </a:p>
              <a:p>
                <a:r>
                  <a:rPr lang="zh-CN" altLang="zh-CN" sz="500" dirty="0">
                    <a:latin typeface="Aptos" panose="020B0004020202020204" pitchFamily="34" charset="0"/>
                    <a:cs typeface="Times New Roman" panose="02020603050405020304" pitchFamily="18" charset="0"/>
                  </a:rPr>
                  <a:t>给定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zh-CN" sz="500" dirty="0">
                    <a:latin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sz="500" dirty="0">
                    <a:latin typeface="Aptos" panose="020B0004020202020204" pitchFamily="34" charset="0"/>
                    <a:cs typeface="Times New Roman" panose="02020603050405020304" pitchFamily="18" charset="0"/>
                  </a:rPr>
                  <a:t>个客户（集合 </a:t>
                </a:r>
                <a14:m>
                  <m:oMath xmlns:m="http://schemas.openxmlformats.org/officeDocument/2006/math">
                    <m:r>
                      <a:rPr lang="en-US" altLang="zh-CN" sz="5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ℐ</m:t>
                    </m:r>
                  </m:oMath>
                </a14:m>
                <a:r>
                  <a:rPr lang="zh-CN" altLang="zh-CN" sz="500" dirty="0">
                    <a:latin typeface="Aptos" panose="020B0004020202020204" pitchFamily="34" charset="0"/>
                    <a:cs typeface="Times New Roman" panose="02020603050405020304" pitchFamily="18" charset="0"/>
                  </a:rPr>
                  <a:t>）和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CN" sz="500" dirty="0">
                    <a:latin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sz="500" dirty="0">
                    <a:latin typeface="Aptos" panose="020B0004020202020204" pitchFamily="34" charset="0"/>
                    <a:cs typeface="Times New Roman" panose="02020603050405020304" pitchFamily="18" charset="0"/>
                  </a:rPr>
                  <a:t>个候选设施点（集合 </a:t>
                </a:r>
                <a14:m>
                  <m:oMath xmlns:m="http://schemas.openxmlformats.org/officeDocument/2006/math">
                    <m:r>
                      <a:rPr lang="zh-CN" altLang="en-US" sz="5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𝒥</m:t>
                    </m:r>
                  </m:oMath>
                </a14:m>
                <a:r>
                  <a:rPr lang="zh-CN" altLang="zh-CN" sz="500" dirty="0">
                    <a:latin typeface="Aptos" panose="020B0004020202020204" pitchFamily="34" charset="0"/>
                    <a:cs typeface="Times New Roman" panose="02020603050405020304" pitchFamily="18" charset="0"/>
                  </a:rPr>
                  <a:t>），需要从中选出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altLang="zh-CN" sz="500" dirty="0">
                    <a:latin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sz="500" dirty="0">
                    <a:latin typeface="Aptos" panose="020B0004020202020204" pitchFamily="34" charset="0"/>
                    <a:cs typeface="Times New Roman" panose="02020603050405020304" pitchFamily="18" charset="0"/>
                  </a:rPr>
                  <a:t>个设施点开设，并将每个客户分配到一个已开设的设施点，使得总服务距离</a:t>
                </a:r>
                <a:r>
                  <a:rPr lang="en-US" altLang="zh-CN" sz="500" dirty="0">
                    <a:latin typeface="Aptos" panose="020B0004020202020204" pitchFamily="34" charset="0"/>
                    <a:cs typeface="Times New Roman" panose="02020603050405020304" pitchFamily="18" charset="0"/>
                  </a:rPr>
                  <a:t>/</a:t>
                </a:r>
                <a:r>
                  <a:rPr lang="zh-CN" altLang="zh-CN" sz="500" dirty="0">
                    <a:latin typeface="Aptos" panose="020B0004020202020204" pitchFamily="34" charset="0"/>
                    <a:cs typeface="Times New Roman" panose="02020603050405020304" pitchFamily="18" charset="0"/>
                  </a:rPr>
                  <a:t>成本最小。</a:t>
                </a:r>
                <a:endParaRPr lang="en-US" altLang="zh-CN" sz="500" dirty="0">
                  <a:latin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r>
                  <a:rPr lang="zh-CN" altLang="en-US" sz="500" b="1" dirty="0"/>
                  <a:t>参数：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sz="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zh-CN" sz="400" dirty="0"/>
                  <a:t>：客户 </a:t>
                </a:r>
                <a14:m>
                  <m:oMath xmlns:m="http://schemas.openxmlformats.org/officeDocument/2006/math">
                    <m:r>
                      <a:rPr lang="zh-CN" altLang="en-US" sz="4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400" dirty="0"/>
                  <a:t> </a:t>
                </a:r>
                <a:r>
                  <a:rPr lang="zh-CN" altLang="zh-CN" sz="400" dirty="0"/>
                  <a:t>由设施 </a:t>
                </a:r>
                <a14:m>
                  <m:oMath xmlns:m="http://schemas.openxmlformats.org/officeDocument/2006/math">
                    <m:r>
                      <a:rPr lang="zh-CN" altLang="en-US" sz="4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400" dirty="0"/>
                  <a:t> </a:t>
                </a:r>
                <a:r>
                  <a:rPr lang="zh-CN" altLang="zh-CN" sz="400" dirty="0"/>
                  <a:t>服务的距离</a:t>
                </a:r>
                <a:r>
                  <a:rPr lang="en-US" altLang="zh-CN" sz="400" dirty="0"/>
                  <a:t>/</a:t>
                </a:r>
                <a:r>
                  <a:rPr lang="zh-CN" altLang="zh-CN" sz="400" dirty="0"/>
                  <a:t>成本</a:t>
                </a:r>
                <a:r>
                  <a:rPr lang="en-US" altLang="zh-CN" sz="400" dirty="0"/>
                  <a:t>  </a:t>
                </a:r>
                <a14:m>
                  <m:oMath xmlns:m="http://schemas.openxmlformats.org/officeDocument/2006/math">
                    <m:r>
                      <a:rPr lang="en-US" altLang="zh-CN" sz="400" b="0" i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zh-CN" altLang="en-US" sz="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zh-CN" sz="400" dirty="0"/>
                  <a:t>：需开设的设施数量</a:t>
                </a:r>
                <a:endParaRPr lang="en-US" altLang="zh-CN" sz="400" dirty="0"/>
              </a:p>
              <a:p>
                <a:r>
                  <a:rPr lang="zh-CN" altLang="zh-CN" sz="500" b="1" dirty="0"/>
                  <a:t>目标函数</a:t>
                </a:r>
                <a:r>
                  <a:rPr lang="zh-CN" altLang="zh-CN" sz="600" b="1" dirty="0"/>
                  <a:t>：</a:t>
                </a:r>
                <a14:m>
                  <m:oMath xmlns:m="http://schemas.openxmlformats.org/officeDocument/2006/math">
                    <m:r>
                      <a:rPr lang="en-US" altLang="zh-CN" sz="500" b="1" i="1">
                        <a:latin typeface="Cambria Math" panose="02040503050406030204" pitchFamily="18" charset="0"/>
                      </a:rPr>
                      <m:t>𝐦𝐢𝐧</m:t>
                    </m:r>
                    <m:r>
                      <a:rPr lang="zh-CN" altLang="en-US" sz="500" b="1" i="1">
                        <a:latin typeface="Cambria Math" panose="02040503050406030204" pitchFamily="18" charset="0"/>
                      </a:rPr>
                      <m:t> 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en-US" sz="5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𝓘</m:t>
                        </m:r>
                      </m:sub>
                      <m:sup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zh-CN" altLang="en-US" sz="500" b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𝓙</m:t>
                            </m:r>
                          </m:sub>
                          <m:sup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𝒊𝒋</m:t>
                                </m:r>
                              </m:sub>
                            </m:sSub>
                          </m:e>
                        </m:nary>
                      </m:e>
                    </m:nary>
                    <m:sSub>
                      <m:sSubPr>
                        <m:ctrlPr>
                          <a:rPr lang="zh-CN" altLang="en-US" sz="5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endParaRPr lang="en-US" altLang="zh-CN" sz="1100" b="1" dirty="0"/>
              </a:p>
              <a:p>
                <a:r>
                  <a:rPr lang="zh-CN" altLang="zh-CN" sz="600" b="1" dirty="0"/>
                  <a:t>约束条件：</a:t>
                </a:r>
                <a14:m>
                  <m:oMath xmlns:m="http://schemas.openxmlformats.org/officeDocument/2006/math">
                    <m:eqArr>
                      <m:eqArrPr>
                        <m:ctrlPr>
                          <a:rPr lang="zh-CN" altLang="en-US" sz="500" b="1" i="1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zh-CN" altLang="en-US" sz="500" b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𝓙</m:t>
                            </m:r>
                          </m:sub>
                          <m:sup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𝒊𝒋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𝓘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（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每个客户必须被服务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）</m:t>
                        </m:r>
                      </m:e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zh-CN" altLang="en-US" sz="500" b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𝓙</m:t>
                            </m:r>
                          </m:sub>
                          <m:sup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（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恰好开设 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 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个设施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）</m:t>
                        </m:r>
                      </m:e>
                      <m:e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𝓘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𝓙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（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只能分配给已开设的设施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）</m:t>
                        </m:r>
                      </m:e>
                      <m:e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},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eqArr>
                  </m:oMath>
                </a14:m>
                <a:endParaRPr lang="zh-CN" altLang="zh-CN" sz="500" b="1" dirty="0"/>
              </a:p>
              <a:p>
                <a:endParaRPr lang="en-US" altLang="zh-CN" sz="300" dirty="0"/>
              </a:p>
              <a:p>
                <a:pPr lvl="0"/>
                <a:endParaRPr lang="zh-CN" altLang="zh-CN" sz="600" dirty="0"/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endParaRPr lang="zh-CN" altLang="zh-CN" sz="600" dirty="0">
                  <a:effectLst/>
                  <a:latin typeface="Aptos" panose="020B0004020202020204" pitchFamily="34" charset="0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buNone/>
                </a:pPr>
                <a:endParaRPr lang="zh-CN" altLang="en-US" sz="600" b="1" dirty="0">
                  <a:solidFill>
                    <a:srgbClr val="333333"/>
                  </a:solidFill>
                  <a:latin typeface="Open Sans" panose="020F0502020204030204" pitchFamily="34" charset="0"/>
                </a:endParaRP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5D0E7D85-3F27-0304-9181-82740CABC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669" y="-50019"/>
                <a:ext cx="2621868" cy="1537857"/>
              </a:xfrm>
              <a:prstGeom prst="rect">
                <a:avLst/>
              </a:prstGeom>
              <a:blipFill>
                <a:blip r:embed="rId4"/>
                <a:stretch>
                  <a:fillRect r="-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DF98B3F3-2F57-E38C-5AA3-5062F93CB469}"/>
              </a:ext>
            </a:extLst>
          </p:cNvPr>
          <p:cNvSpPr txBox="1"/>
          <p:nvPr/>
        </p:nvSpPr>
        <p:spPr>
          <a:xfrm>
            <a:off x="-9521" y="1031785"/>
            <a:ext cx="2324100" cy="3760004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square" rtlCol="0">
            <a:spAutoFit/>
          </a:bodyPr>
          <a:lstStyle/>
          <a:p>
            <a:pPr latinLnBrk="1">
              <a:spcAft>
                <a:spcPts val="1000"/>
              </a:spcAft>
              <a:buNone/>
            </a:pPr>
            <a:r>
              <a:rPr lang="en-US" altLang="zh-CN" sz="5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pandas </a:t>
            </a:r>
            <a:r>
              <a:rPr lang="en-US" altLang="zh-CN" sz="5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pd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gurobipy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数据读取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=====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data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pd.read_csv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'data_portfolio.csv'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endParaRPr lang="zh-CN" altLang="zh-CN" sz="500" dirty="0">
              <a:effectLst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atinLnBrk="1">
              <a:spcAft>
                <a:spcPts val="1000"/>
              </a:spcAft>
              <a:buNone/>
            </a:pP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读取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CSV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文件，数据行为各期收益，列为各股票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stocks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data.columns.values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提取列名（股票代码列表）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ret_mean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data.mean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对每列求均值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各股票的期望收益率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mu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dict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ret_mean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转成字典，键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股票名，值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期望收益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Sigma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data.cov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().values 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计算各列的协方差矩阵（即各股票收益的协方差）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budget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1000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beta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模型建立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=====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gp.Model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5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markowitz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m.addVars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(stocks,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'x'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目标：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min </a:t>
            </a:r>
            <a:r>
              <a:rPr lang="en-US" altLang="zh-CN" sz="500" i="1" dirty="0" err="1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x^T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Sigma x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m.setObjective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gp.quicksum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(Sigma[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x[stocks[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]]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x[stocks[j]]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(stocks))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(stocks))),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gp.GRB.MINIMIZE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约束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：预算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m.addConstr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gp.quicksum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(x[s]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s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stocks)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budget, 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'budget'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约束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：收益目标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m.addConstr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gp.quicksum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(mu[s]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x[s]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s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stocks)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beta, 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'return'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求解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m.optimize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输出结果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m.status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gp.GRB.OPTIMAL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</a:t>
            </a:r>
            <a:r>
              <a:rPr lang="zh-CN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最优目标值（最小方差）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ObjVal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:.6f}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"\n</a:t>
            </a:r>
            <a:r>
              <a:rPr lang="zh-CN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各股票投资金额：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s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stocks: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x[s].X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1e-3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  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x[s]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:.4f}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\n</a:t>
            </a:r>
            <a:r>
              <a:rPr lang="zh-CN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总投资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sum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(x[s].X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s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stocks)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:.4f}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</a:t>
            </a:r>
            <a:r>
              <a:rPr lang="zh-CN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总期望收益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sum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(mu[s]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x[s].X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s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stocks)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:.4f}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500" dirty="0">
              <a:effectLst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B03BA6-AA3B-0105-837C-D605246F3971}"/>
              </a:ext>
            </a:extLst>
          </p:cNvPr>
          <p:cNvSpPr txBox="1"/>
          <p:nvPr/>
        </p:nvSpPr>
        <p:spPr>
          <a:xfrm>
            <a:off x="2324101" y="1281768"/>
            <a:ext cx="2628899" cy="4324261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square" rtlCol="0">
            <a:spAutoFit/>
          </a:bodyPr>
          <a:lstStyle/>
          <a:p>
            <a:pPr latinLnBrk="1">
              <a:spcAft>
                <a:spcPts val="1000"/>
              </a:spcAft>
              <a:buNone/>
            </a:pPr>
            <a:r>
              <a:rPr lang="en-US" altLang="zh-CN" sz="5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pandas </a:t>
            </a:r>
            <a:r>
              <a:rPr lang="en-US" altLang="zh-CN" sz="5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pd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from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gurobipy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数据读取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=====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data1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pd.read_csv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'data_portfolio.csv'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stocks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data1.columns.values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ret_mean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data1.mean()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ret_mean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dict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ret_mean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ret_cov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data1.cov()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budget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1000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exp_ret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模型建立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=====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Model(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5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portfolio_max_prob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m.addVars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(stocks, 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'bar'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z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m.addVar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'z'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目标函数：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min x̄^T Σ x̄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m.setObjective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quicksum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ret_cov.loc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x[j]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stocks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stocks),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sense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GRB.MINIMIZE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约束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：预算约束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m.addConstr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quicksum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(x[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stocks)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budget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z,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5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budget_con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约束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：归一化约束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m.addConstr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quicksum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ret_mean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stocks)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exp_ret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z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5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norm_con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m.write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5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model.lp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m.optimize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结果输出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=====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m.status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GRB.OPTIMAL: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z_val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z.X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abs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z_val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1e-6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"Warning: z </a:t>
            </a:r>
            <a:r>
              <a:rPr lang="zh-CN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接近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0</a:t>
            </a:r>
            <a:r>
              <a:rPr lang="zh-CN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，模型可能无意义或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β </a:t>
            </a:r>
            <a:r>
              <a:rPr lang="zh-CN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设置过高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\n</a:t>
            </a:r>
            <a:r>
              <a:rPr lang="zh-CN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最优目标值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(x̄^T Σ x̄) = 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ObjVal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:.6f}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</a:t>
            </a:r>
            <a:r>
              <a:rPr lang="zh-CN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辅助变量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z = 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z_val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:.6f}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"\n--- </a:t>
            </a:r>
            <a:r>
              <a:rPr lang="zh-CN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实际投资金额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 = x̄ / z ---"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total_invested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actual_x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{}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s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stocks: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x[s].X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z_val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actual_x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[s]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val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total_invested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+=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val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abs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1e-3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   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 x̄ = 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x[s]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:.4f}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 x = 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val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:.4f}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zh-CN" sz="500" dirty="0">
              <a:effectLst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0EF5ED4-1179-7D46-96C5-DEE5ED376746}"/>
              </a:ext>
            </a:extLst>
          </p:cNvPr>
          <p:cNvCxnSpPr>
            <a:cxnSpLocks/>
          </p:cNvCxnSpPr>
          <p:nvPr/>
        </p:nvCxnSpPr>
        <p:spPr>
          <a:xfrm>
            <a:off x="2314573" y="495300"/>
            <a:ext cx="0" cy="61388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A967E612-1B70-A85F-D84A-6247FD130541}"/>
              </a:ext>
            </a:extLst>
          </p:cNvPr>
          <p:cNvSpPr txBox="1"/>
          <p:nvPr/>
        </p:nvSpPr>
        <p:spPr>
          <a:xfrm>
            <a:off x="4943478" y="842564"/>
            <a:ext cx="2505075" cy="3554819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square" rtlCol="0">
            <a:spAutoFit/>
          </a:bodyPr>
          <a:lstStyle/>
          <a:p>
            <a:pPr latinLnBrk="1">
              <a:spcAft>
                <a:spcPts val="1000"/>
              </a:spcAft>
              <a:buNone/>
            </a:pPr>
            <a:r>
              <a:rPr lang="en-US" altLang="zh-CN" sz="5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numpy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np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gurobipy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数据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=====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客户数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候选设施数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开设设施数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np.random.seed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42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loc_cust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np.random.randint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(n,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))   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客户坐标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loc_fac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np.random.randint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(m,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))    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设施坐标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计算欧氏距离</a:t>
            </a:r>
            <a:r>
              <a:rPr lang="zh-CN" altLang="en-US" sz="500" i="1" dirty="0">
                <a:solidFill>
                  <a:srgbClr val="60A0B0"/>
                </a:solidFill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en-US" sz="500" b="1" i="1" dirty="0">
                <a:solidFill>
                  <a:srgbClr val="60A0B0"/>
                </a:solidFill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直接由两个点</a:t>
            </a:r>
            <a:r>
              <a:rPr lang="en-US" altLang="zh-CN" sz="500" b="1" i="1" dirty="0" err="1">
                <a:solidFill>
                  <a:srgbClr val="60A0B0"/>
                </a:solidFill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I,j</a:t>
            </a:r>
            <a:r>
              <a:rPr lang="zh-CN" altLang="en-US" sz="500" b="1" i="1" dirty="0">
                <a:solidFill>
                  <a:srgbClr val="60A0B0"/>
                </a:solidFill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的坐标封装求距离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c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{(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j):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np.linalg.norm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loc_cust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loc_fac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[j])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(n)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(m)}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(n)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J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(m)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模型建立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=====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gp.Model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5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pmedian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model.addVars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(J,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vtype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gp.GRB.BINARY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'x'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model.addVars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(I, J,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vtype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gp.GRB.BINARY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'y'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model.setObjective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gp.quicksum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(c[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y[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I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J),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gp.GRB.MINIMIZE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model.addConstrs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((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gp.quicksum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(y[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J)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I), 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'assign'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model.addConstr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gp.quicksum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(x[j]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J)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p, 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5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p_facilities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model.addConstrs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((y[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x[j]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I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J), 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'link'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model.optimize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输出结果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model.status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gp.GRB.OPTIMAL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</a:t>
            </a:r>
            <a:r>
              <a:rPr lang="zh-CN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最优总距离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ObjVal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:.2f}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opened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[j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x[j].X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0.9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</a:t>
            </a:r>
            <a:r>
              <a:rPr lang="zh-CN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开设设施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opened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I: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assigned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[j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y[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j].X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0.9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  </a:t>
            </a:r>
            <a:r>
              <a:rPr lang="zh-CN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客户 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zh-CN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设施 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assigned[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距离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c[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assigned[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]]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:.2f}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500" dirty="0">
              <a:effectLst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D19A33B-BEB7-443B-F50B-4E94BE09ED4B}"/>
                  </a:ext>
                </a:extLst>
              </p:cNvPr>
              <p:cNvSpPr txBox="1"/>
              <p:nvPr/>
            </p:nvSpPr>
            <p:spPr>
              <a:xfrm>
                <a:off x="7338594" y="-40961"/>
                <a:ext cx="2621868" cy="1232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zh-CN" sz="550" b="1" dirty="0"/>
                  <a:t> </a:t>
                </a:r>
                <a:r>
                  <a:rPr lang="en-US" altLang="zh-CN" sz="550" b="1" dirty="0"/>
                  <a:t>4.2</a:t>
                </a:r>
                <a:r>
                  <a:rPr lang="zh-CN" altLang="zh-CN" sz="550" b="1" dirty="0"/>
                  <a:t>：</a:t>
                </a:r>
                <a:r>
                  <a:rPr lang="en-US" altLang="zh-CN" sz="550" b="1" dirty="0"/>
                  <a:t>p-Center </a:t>
                </a:r>
                <a:r>
                  <a:rPr lang="zh-CN" altLang="zh-CN" sz="550" b="1" dirty="0"/>
                  <a:t>问题（课件）</a:t>
                </a:r>
              </a:p>
              <a:p>
                <a:r>
                  <a:rPr lang="zh-CN" altLang="zh-CN" sz="550" dirty="0"/>
                  <a:t>与</a:t>
                </a:r>
                <a:r>
                  <a:rPr lang="en-US" altLang="zh-CN" sz="550" dirty="0"/>
                  <a:t> p-Median </a:t>
                </a:r>
                <a:r>
                  <a:rPr lang="zh-CN" altLang="zh-CN" sz="550" dirty="0"/>
                  <a:t>类似，但目标改为最小化</a:t>
                </a:r>
                <a:r>
                  <a:rPr lang="zh-CN" altLang="zh-CN" sz="550" b="1" dirty="0"/>
                  <a:t>最远的</a:t>
                </a:r>
                <a:r>
                  <a:rPr lang="zh-CN" altLang="zh-CN" sz="550" dirty="0"/>
                  <a:t>客户到设施的距离，体现公平性。常用于消防站、急救中心等公共设施的选址。</a:t>
                </a:r>
              </a:p>
              <a:p>
                <a:r>
                  <a:rPr lang="zh-CN" altLang="zh-CN" sz="550" b="1" i="1" dirty="0"/>
                  <a:t>数学建模</a:t>
                </a:r>
              </a:p>
              <a:p>
                <a:r>
                  <a:rPr lang="zh-CN" altLang="zh-CN" sz="550" dirty="0"/>
                  <a:t>引入辅助变量 </a:t>
                </a:r>
                <a14:m>
                  <m:oMath xmlns:m="http://schemas.openxmlformats.org/officeDocument/2006/math">
                    <m:r>
                      <a:rPr lang="zh-CN" altLang="en-US" sz="550" i="1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altLang="zh-CN" sz="550" dirty="0"/>
                  <a:t> </a:t>
                </a:r>
                <a:r>
                  <a:rPr lang="zh-CN" altLang="zh-CN" sz="550" dirty="0"/>
                  <a:t>表示最大服务距离。</a:t>
                </a:r>
                <a:endParaRPr lang="en-US" altLang="zh-CN" sz="550" dirty="0"/>
              </a:p>
              <a:p>
                <a:r>
                  <a:rPr lang="zh-CN" altLang="zh-CN" sz="600" b="1" dirty="0"/>
                  <a:t>目标函数：</a:t>
                </a:r>
                <a14:m>
                  <m:oMath xmlns:m="http://schemas.openxmlformats.org/officeDocument/2006/math">
                    <m:r>
                      <a:rPr lang="en-US" altLang="zh-CN" sz="600" b="1" i="1">
                        <a:latin typeface="Cambria Math" panose="02040503050406030204" pitchFamily="18" charset="0"/>
                      </a:rPr>
                      <m:t>𝐦𝐢𝐧</m:t>
                    </m:r>
                    <m:r>
                      <a:rPr lang="zh-CN" altLang="en-US" sz="600" b="1" i="1">
                        <a:latin typeface="Cambria Math" panose="02040503050406030204" pitchFamily="18" charset="0"/>
                      </a:rPr>
                      <m:t> </m:t>
                    </m:r>
                    <m:r>
                      <a:rPr lang="zh-CN" altLang="en-US" sz="600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zh-CN" altLang="zh-CN" sz="600" b="1" dirty="0"/>
              </a:p>
              <a:p>
                <a:r>
                  <a:rPr lang="zh-CN" altLang="zh-CN" sz="600" b="1" dirty="0"/>
                  <a:t>约束条件：</a:t>
                </a:r>
                <a14:m>
                  <m:oMath xmlns:m="http://schemas.openxmlformats.org/officeDocument/2006/math">
                    <m:eqArr>
                      <m:eqArrPr>
                        <m:ctrlPr>
                          <a:rPr lang="zh-CN" altLang="en-US" sz="600" b="1" i="1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zh-CN" altLang="en-US" sz="600" b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  <m:t>𝓙</m:t>
                            </m:r>
                          </m:sub>
                          <m:sup>
                            <m: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6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zh-CN" altLang="en-US" sz="600" b="1" i="1">
                                    <a:latin typeface="Cambria Math" panose="02040503050406030204" pitchFamily="18" charset="0"/>
                                  </a:rPr>
                                  <m:t>𝒊𝒋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6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en-US" altLang="zh-CN" sz="600" b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6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6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6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zh-CN" altLang="en-US" sz="600" b="1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zh-CN" altLang="en-US" sz="6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zh-CN" altLang="en-US" sz="600" b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600" b="1" i="1">
                            <a:latin typeface="Cambria Math" panose="02040503050406030204" pitchFamily="18" charset="0"/>
                          </a:rPr>
                          <m:t>𝓘</m:t>
                        </m:r>
                      </m:e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zh-CN" altLang="en-US" sz="600" b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  <m:t>𝓙</m:t>
                            </m:r>
                          </m:sub>
                          <m:sup>
                            <m: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6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zh-CN" altLang="en-US" sz="600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6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en-US" altLang="zh-CN" sz="600" b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6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e>
                        <m:sSub>
                          <m:sSubPr>
                            <m:ctrlP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  <m:r>
                          <a:rPr lang="en-US" altLang="zh-CN" sz="6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600" b="1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altLang="zh-CN" sz="6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6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zh-CN" altLang="en-US" sz="600" b="1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zh-CN" altLang="en-US" sz="6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6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600" b="1" i="1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zh-CN" altLang="en-US" sz="600" b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  <m:t>𝓙</m:t>
                            </m:r>
                          </m:sub>
                          <m:sup>
                            <m: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6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600" b="1" i="1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zh-CN" altLang="en-US" sz="600" b="1" i="1">
                                    <a:latin typeface="Cambria Math" panose="02040503050406030204" pitchFamily="18" charset="0"/>
                                  </a:rPr>
                                  <m:t>𝒊𝒋</m:t>
                                </m:r>
                              </m:sub>
                            </m:sSub>
                          </m:e>
                        </m:nary>
                        <m:sSub>
                          <m:sSubPr>
                            <m:ctrlP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  <m:r>
                          <a:rPr lang="en-US" altLang="zh-CN" sz="6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600" b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sz="600" b="1" i="1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6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6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zh-CN" altLang="en-US" sz="600" b="1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zh-CN" altLang="en-US" sz="6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zh-CN" altLang="en-US" sz="600" b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600" b="1" i="1">
                            <a:latin typeface="Cambria Math" panose="02040503050406030204" pitchFamily="18" charset="0"/>
                          </a:rPr>
                          <m:t>𝓘</m:t>
                        </m:r>
                        <m:r>
                          <a:rPr lang="zh-CN" altLang="en-US" sz="6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600" b="1"/>
                          <m:t>（</m:t>
                        </m:r>
                        <m:r>
                          <m:rPr>
                            <m:nor/>
                          </m:rPr>
                          <a:rPr lang="zh-CN" altLang="en-US" sz="600" b="1"/>
                          <m:t>每个客户的服务距离不超过</m:t>
                        </m:r>
                        <m:r>
                          <a:rPr lang="zh-CN" altLang="en-US" sz="600" b="1" i="1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m:rPr>
                            <m:nor/>
                          </m:rPr>
                          <a:rPr lang="zh-CN" altLang="en-US" sz="600" b="1"/>
                          <m:t>）</m:t>
                        </m:r>
                      </m:e>
                      <m:e>
                        <m:sSub>
                          <m:sSubPr>
                            <m:ctrlP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altLang="zh-CN" sz="6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600" b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600" b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sz="6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6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6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600" b="1">
                            <a:latin typeface="Cambria Math" panose="02040503050406030204" pitchFamily="18" charset="0"/>
                          </a:rPr>
                          <m:t>},</m:t>
                        </m:r>
                        <m:r>
                          <a:rPr lang="zh-CN" altLang="en-US" sz="600" b="1" i="1">
                            <a:latin typeface="Cambria Math" panose="02040503050406030204" pitchFamily="18" charset="0"/>
                          </a:rPr>
                          <m:t> </m:t>
                        </m:r>
                        <m:sSub>
                          <m:sSubPr>
                            <m:ctrlP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zh-CN" altLang="en-US" sz="600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  <m:r>
                          <a:rPr lang="zh-CN" altLang="en-US" sz="600" b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600" b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sz="6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6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6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600" b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eqArr>
                  </m:oMath>
                </a14:m>
                <a:endParaRPr lang="zh-CN" altLang="zh-CN" sz="600" b="1" dirty="0"/>
              </a:p>
              <a:p>
                <a:endParaRPr lang="zh-CN" altLang="zh-CN" sz="55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D19A33B-BEB7-443B-F50B-4E94BE09E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8594" y="-40961"/>
                <a:ext cx="2621868" cy="1232325"/>
              </a:xfrm>
              <a:prstGeom prst="rect">
                <a:avLst/>
              </a:prstGeom>
              <a:blipFill>
                <a:blip r:embed="rId5"/>
                <a:stretch>
                  <a:fillRect l="-2326" b="-69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71145667-DB74-9758-F96E-785969FA7785}"/>
              </a:ext>
            </a:extLst>
          </p:cNvPr>
          <p:cNvSpPr txBox="1"/>
          <p:nvPr/>
        </p:nvSpPr>
        <p:spPr>
          <a:xfrm>
            <a:off x="7410449" y="1060788"/>
            <a:ext cx="2505075" cy="3554819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square" rtlCol="0">
            <a:spAutoFit/>
          </a:bodyPr>
          <a:lstStyle/>
          <a:p>
            <a:pPr latinLnBrk="1">
              <a:spcAft>
                <a:spcPts val="1000"/>
              </a:spcAft>
              <a:buNone/>
            </a:pPr>
            <a:r>
              <a:rPr lang="en-US" altLang="zh-CN" sz="5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numpy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np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gurobipy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数据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=====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客户数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候选设施数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开设设施数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np.random.seed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42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loc_cust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np.random.randint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(n,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loc_fac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np.random.randint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(m,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c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{(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j):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np.linalg.norm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loc_cust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loc_fac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[j])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(n)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(m)}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(n)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J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(m)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模型建立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=====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gp.Model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5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pcenter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model.addVars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(J,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vtype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gp.GRB.BINARY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'x'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model.addVars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(I, J,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vtype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gp.GRB.BINARY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'y'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w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model.addVar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'w'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  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最大服务距离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model.setObjective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(w,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gp.GRB.MINIMIZE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model.addConstrs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((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gp.quicksum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(y[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J)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I), 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'assign'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model.addConstr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gp.quicksum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(x[j]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J)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p, 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5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p_facilities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model.addConstrs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((y[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x[j]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I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J), 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'link'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model.addConstrs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((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gp.quicksum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(c[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y[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J)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w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I), 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5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max_dist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model.optimize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输出结果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model.status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gp.GRB.OPTIMAL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</a:t>
            </a:r>
            <a:r>
              <a:rPr lang="zh-CN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最优最大距离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:.2f}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opened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[j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x[j].X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0.9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</a:t>
            </a:r>
            <a:r>
              <a:rPr lang="zh-CN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开设设施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opened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I: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assigned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[j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y[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j].X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0.9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dist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c[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assigned[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]]</a:t>
            </a:r>
            <a:b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  </a:t>
            </a:r>
            <a:r>
              <a:rPr lang="zh-CN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客户 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zh-CN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设施 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assigned[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距离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dist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:.2f}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500" dirty="0">
              <a:effectLst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F96D995-9015-0359-7593-4AEB75D1A97E}"/>
              </a:ext>
            </a:extLst>
          </p:cNvPr>
          <p:cNvCxnSpPr>
            <a:cxnSpLocks/>
          </p:cNvCxnSpPr>
          <p:nvPr/>
        </p:nvCxnSpPr>
        <p:spPr>
          <a:xfrm>
            <a:off x="4962523" y="590550"/>
            <a:ext cx="0" cy="61388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A03717BE-4789-9ABF-BDDF-EA76BF9DFF30}"/>
              </a:ext>
            </a:extLst>
          </p:cNvPr>
          <p:cNvCxnSpPr>
            <a:cxnSpLocks/>
          </p:cNvCxnSpPr>
          <p:nvPr/>
        </p:nvCxnSpPr>
        <p:spPr>
          <a:xfrm>
            <a:off x="7419322" y="0"/>
            <a:ext cx="0" cy="46156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75E79D8-6295-B13E-9174-61369A08CE46}"/>
                  </a:ext>
                </a:extLst>
              </p:cNvPr>
              <p:cNvSpPr txBox="1"/>
              <p:nvPr/>
            </p:nvSpPr>
            <p:spPr>
              <a:xfrm>
                <a:off x="-69484" y="4791789"/>
                <a:ext cx="2534396" cy="19659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zh-CN" sz="500" b="1" dirty="0"/>
                  <a:t> </a:t>
                </a:r>
                <a:r>
                  <a:rPr lang="en-US" altLang="zh-CN" sz="500" b="1" dirty="0"/>
                  <a:t>4.3</a:t>
                </a:r>
                <a:r>
                  <a:rPr lang="zh-CN" altLang="zh-CN" sz="500" b="1" dirty="0"/>
                  <a:t>：</a:t>
                </a:r>
                <a:r>
                  <a:rPr lang="en-US" altLang="zh-CN" sz="500" b="1" dirty="0"/>
                  <a:t>Fixed-Charge Facility Location</a:t>
                </a:r>
                <a:r>
                  <a:rPr lang="zh-CN" altLang="zh-CN" sz="500" b="1" dirty="0"/>
                  <a:t>（</a:t>
                </a:r>
                <a:r>
                  <a:rPr lang="zh-CN" altLang="en-US" sz="500" b="1" dirty="0"/>
                  <a:t>反面</a:t>
                </a:r>
                <a:r>
                  <a:rPr lang="zh-CN" altLang="zh-CN" sz="500" b="1" dirty="0"/>
                  <a:t>）</a:t>
                </a:r>
              </a:p>
              <a:p>
                <a:r>
                  <a:rPr lang="zh-CN" altLang="zh-CN" sz="500" dirty="0"/>
                  <a:t>每个候选设施点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开设需要支付固定成本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500" dirty="0"/>
                  <a:t>，且有容量限制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500" dirty="0"/>
                  <a:t>。客户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的需求为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500" dirty="0"/>
                  <a:t>，由设施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服务每单位需求的可变成本为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zh-CN" sz="500" dirty="0"/>
                  <a:t>。决定开设哪些设施以及如何分配客户需求，使总成本（固定成本</a:t>
                </a:r>
                <a:r>
                  <a:rPr lang="en-US" altLang="zh-CN" sz="500" dirty="0"/>
                  <a:t> + </a:t>
                </a:r>
                <a:r>
                  <a:rPr lang="zh-CN" altLang="zh-CN" sz="500" dirty="0"/>
                  <a:t>可变成本）最小。</a:t>
                </a:r>
              </a:p>
              <a:p>
                <a:r>
                  <a:rPr lang="zh-CN" altLang="zh-CN" sz="500" b="1" i="1" dirty="0"/>
                  <a:t>数学建模</a:t>
                </a:r>
              </a:p>
              <a:p>
                <a:r>
                  <a:rPr lang="zh-CN" altLang="zh-CN" sz="500" b="1" dirty="0"/>
                  <a:t>参数：</a:t>
                </a:r>
                <a:endParaRPr lang="zh-CN" altLang="zh-CN" sz="500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500" dirty="0"/>
                  <a:t>：客户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的需求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500" dirty="0"/>
                  <a:t>：开设设施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的固定成本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500" dirty="0"/>
                  <a:t>：设施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的容量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zh-CN" sz="500" dirty="0"/>
                  <a:t>：单位服务成本</a:t>
                </a:r>
              </a:p>
              <a:p>
                <a:r>
                  <a:rPr lang="zh-CN" altLang="zh-CN" sz="500" b="1" dirty="0"/>
                  <a:t>决策变量：</a:t>
                </a:r>
                <a:endParaRPr lang="zh-CN" altLang="zh-CN" sz="500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zh-CN" altLang="en-US" sz="5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zh-CN" sz="500" dirty="0"/>
                  <a:t>：设施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是否开设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zh-CN" altLang="en-US" sz="5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zh-CN" sz="500" dirty="0"/>
                  <a:t>：客户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由设施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服务的</a:t>
                </a:r>
                <a:r>
                  <a:rPr lang="zh-CN" altLang="zh-CN" sz="500" b="1" dirty="0"/>
                  <a:t>需求比例</a:t>
                </a:r>
                <a:endParaRPr lang="zh-CN" altLang="zh-CN" sz="500" dirty="0"/>
              </a:p>
              <a:p>
                <a:r>
                  <a:rPr lang="zh-CN" altLang="zh-CN" sz="500" b="1" dirty="0"/>
                  <a:t>目标函数：</a:t>
                </a:r>
                <a:endParaRPr lang="zh-CN" altLang="zh-CN" sz="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500">
                          <a:latin typeface="Cambria Math" panose="02040503050406030204" pitchFamily="18" charset="0"/>
                        </a:rPr>
                        <m:t>min</m:t>
                      </m:r>
                      <m:r>
                        <a:rPr lang="zh-CN" altLang="en-US" sz="500" i="1">
                          <a:latin typeface="Cambria Math" panose="02040503050406030204" pitchFamily="18" charset="0"/>
                        </a:rPr>
                        <m:t> 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en-US" sz="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5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zh-CN" altLang="en-US" sz="500">
                              <a:latin typeface="Cambria Math" panose="02040503050406030204" pitchFamily="18" charset="0"/>
                            </a:rPr>
                            <m:t>𝒥</m:t>
                          </m:r>
                        </m:sub>
                        <m:sup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zh-CN" altLang="en-US" sz="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50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en-US" sz="5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5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500">
                              <a:latin typeface="Cambria Math" panose="02040503050406030204" pitchFamily="18" charset="0"/>
                            </a:rPr>
                            <m:t>ℐ</m:t>
                          </m:r>
                        </m:sub>
                        <m:sup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sz="50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zh-CN" altLang="en-US" sz="500">
                                  <a:latin typeface="Cambria Math" panose="02040503050406030204" pitchFamily="18" charset="0"/>
                                </a:rPr>
                                <m:t>𝒥</m:t>
                              </m:r>
                            </m:sub>
                            <m:sup>
                              <m: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sz="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5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zh-CN" altLang="en-US" sz="5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sSub>
                        <m:sSubPr>
                          <m:ctrlPr>
                            <a:rPr lang="zh-CN" altLang="en-US" sz="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zh-CN" altLang="en-US" sz="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zh-CN" altLang="zh-CN" sz="500" dirty="0"/>
              </a:p>
              <a:p>
                <a:r>
                  <a:rPr lang="zh-CN" altLang="zh-CN" sz="500" b="1" dirty="0"/>
                  <a:t>约束条件：</a:t>
                </a:r>
                <a:endParaRPr lang="zh-CN" altLang="zh-CN" sz="5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zh-CN" altLang="en-US" sz="5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sz="50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zh-CN" altLang="en-US" sz="500">
                                  <a:latin typeface="Cambria Math" panose="02040503050406030204" pitchFamily="18" charset="0"/>
                                </a:rPr>
                                <m:t>𝒥</m:t>
                              </m:r>
                            </m:sub>
                            <m:sup>
                              <m: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sz="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5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5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500" i="1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en-US" altLang="zh-CN" sz="5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5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5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 </m:t>
                          </m:r>
                          <m:r>
                            <a:rPr lang="zh-CN" altLang="en-US" sz="500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5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500">
                              <a:latin typeface="Cambria Math" panose="02040503050406030204" pitchFamily="18" charset="0"/>
                            </a:rPr>
                            <m:t>ℐ</m:t>
                          </m:r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 </m:t>
                          </m:r>
                          <m:r>
                            <m:rPr>
                              <m:nor/>
                            </m:rPr>
                            <a:rPr lang="zh-CN" altLang="en-US" sz="500"/>
                            <m:t>（</m:t>
                          </m:r>
                          <m:r>
                            <m:rPr>
                              <m:nor/>
                            </m:rPr>
                            <a:rPr lang="zh-CN" altLang="en-US" sz="500"/>
                            <m:t>需求完全满足</m:t>
                          </m:r>
                          <m:r>
                            <m:rPr>
                              <m:nor/>
                            </m:rPr>
                            <a:rPr lang="zh-CN" altLang="en-US" sz="500"/>
                            <m:t>）</m:t>
                          </m:r>
                        </m:e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sz="50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zh-CN" sz="500">
                                  <a:latin typeface="Cambria Math" panose="02040503050406030204" pitchFamily="18" charset="0"/>
                                </a:rPr>
                                <m:t>ℐ</m:t>
                              </m:r>
                            </m:sub>
                            <m:sup>
                              <m: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zh-CN" altLang="en-US" sz="5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5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zh-CN" altLang="en-US" sz="5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zh-CN" sz="500" i="1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50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5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 </m:t>
                          </m:r>
                          <m:r>
                            <a:rPr lang="zh-CN" altLang="en-US" sz="500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zh-CN" altLang="en-US" sz="5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zh-CN" altLang="en-US" sz="500">
                              <a:latin typeface="Cambria Math" panose="02040503050406030204" pitchFamily="18" charset="0"/>
                            </a:rPr>
                            <m:t>𝒥</m:t>
                          </m:r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 </m:t>
                          </m:r>
                          <m:r>
                            <m:rPr>
                              <m:nor/>
                            </m:rPr>
                            <a:rPr lang="zh-CN" altLang="en-US" sz="500"/>
                            <m:t>（</m:t>
                          </m:r>
                          <m:r>
                            <m:rPr>
                              <m:nor/>
                            </m:rPr>
                            <a:rPr lang="zh-CN" altLang="en-US" sz="500"/>
                            <m:t>容量约束</m:t>
                          </m:r>
                          <m:r>
                            <m:rPr>
                              <m:nor/>
                            </m:rPr>
                            <a:rPr lang="zh-CN" altLang="en-US" sz="500"/>
                            <m:t>）</m:t>
                          </m:r>
                        </m:e>
                        <m:e>
                          <m:sSub>
                            <m:sSubPr>
                              <m:ctrlP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sz="500" i="1">
                              <a:latin typeface="Cambria Math" panose="02040503050406030204" pitchFamily="18" charset="0"/>
                            </a:rPr>
                            <m:t>&amp;</m:t>
                          </m:r>
                          <m:r>
                            <a:rPr lang="zh-CN" altLang="en-US" sz="5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50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sz="5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5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5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500">
                              <a:latin typeface="Cambria Math" panose="02040503050406030204" pitchFamily="18" charset="0"/>
                            </a:rPr>
                            <m:t>},</m:t>
                          </m:r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 </m:t>
                          </m:r>
                          <m:sSub>
                            <m:sSubPr>
                              <m:ctrlP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500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zh-CN" altLang="en-US" sz="5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CN" sz="50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5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5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5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50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eqArr>
                    </m:oMath>
                  </m:oMathPara>
                </a14:m>
                <a:endParaRPr lang="zh-CN" altLang="zh-CN" sz="500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775E79D8-6295-B13E-9174-61369A08C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9484" y="4791789"/>
                <a:ext cx="2534396" cy="1965987"/>
              </a:xfrm>
              <a:prstGeom prst="rect">
                <a:avLst/>
              </a:prstGeom>
              <a:blipFill>
                <a:blip r:embed="rId6"/>
                <a:stretch>
                  <a:fillRect r="-723" b="-11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064F966-A0BD-86B0-8073-81FC2B010326}"/>
                  </a:ext>
                </a:extLst>
              </p:cNvPr>
              <p:cNvSpPr txBox="1"/>
              <p:nvPr/>
            </p:nvSpPr>
            <p:spPr>
              <a:xfrm>
                <a:off x="7328306" y="4635239"/>
                <a:ext cx="2632156" cy="20745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zh-CN" sz="600" b="1" dirty="0"/>
                  <a:t> </a:t>
                </a:r>
                <a:r>
                  <a:rPr lang="en-US" altLang="zh-CN" sz="600" b="1" dirty="0"/>
                  <a:t>4.4</a:t>
                </a:r>
                <a:r>
                  <a:rPr lang="zh-CN" altLang="en-US" sz="600" b="1" dirty="0"/>
                  <a:t>：作业 </a:t>
                </a:r>
                <a:r>
                  <a:rPr lang="en-US" altLang="zh-CN" sz="600" b="1" dirty="0"/>
                  <a:t>— </a:t>
                </a:r>
                <a:r>
                  <a:rPr lang="zh-CN" altLang="en-US" sz="600" b="1" dirty="0"/>
                  <a:t>门店关闭选址（</a:t>
                </a:r>
                <a:r>
                  <a:rPr lang="en-US" altLang="zh-CN" sz="600" b="1" dirty="0"/>
                  <a:t>Grocery Store Chain</a:t>
                </a:r>
                <a:r>
                  <a:rPr lang="zh-CN" altLang="en-US" sz="600" b="1" dirty="0"/>
                  <a:t>）</a:t>
                </a:r>
                <a:endParaRPr lang="zh-CN" altLang="zh-CN" sz="600" b="1" dirty="0"/>
              </a:p>
              <a:p>
                <a:r>
                  <a:rPr lang="zh-CN" altLang="zh-CN" sz="600" dirty="0"/>
                  <a:t>某杂货连锁店在一个城市有</a:t>
                </a:r>
                <a:r>
                  <a:rPr lang="en-US" altLang="zh-CN" sz="600" dirty="0"/>
                  <a:t> 10 </a:t>
                </a:r>
                <a:r>
                  <a:rPr lang="zh-CN" altLang="zh-CN" sz="600" dirty="0"/>
                  <a:t>家门店，要求任意两家门店之间的距离不能小于</a:t>
                </a:r>
                <a:r>
                  <a:rPr lang="en-US" altLang="zh-CN" sz="600" dirty="0"/>
                  <a:t> 2 </a:t>
                </a:r>
                <a:r>
                  <a:rPr lang="zh-CN" altLang="zh-CN" sz="600" dirty="0"/>
                  <a:t>英里。下图将距离小于</a:t>
                </a:r>
                <a:r>
                  <a:rPr lang="en-US" altLang="zh-CN" sz="600" dirty="0"/>
                  <a:t> 2 </a:t>
                </a:r>
                <a:r>
                  <a:rPr lang="zh-CN" altLang="zh-CN" sz="600" dirty="0"/>
                  <a:t>英里的门店用圆圈标出。已知各门店月收益（单位：千美元），需要决定保留哪些门店，使得保留门店的总收益最大。</a:t>
                </a:r>
                <a:endParaRPr lang="en-US" altLang="zh-CN" sz="600" dirty="0"/>
              </a:p>
              <a:p>
                <a:r>
                  <a:rPr lang="en-US" altLang="zh-CN" sz="600" dirty="0"/>
                  <a:t>| </a:t>
                </a:r>
                <a:r>
                  <a:rPr lang="zh-CN" altLang="en-US" sz="600" dirty="0"/>
                  <a:t>门店 </a:t>
                </a:r>
                <a:r>
                  <a:rPr lang="en-US" altLang="zh-CN" sz="600" dirty="0"/>
                  <a:t>| 1    | 2    | 3    | 4    | 5    | 6    | 7    | 8    | 9    | 10   |</a:t>
                </a:r>
              </a:p>
              <a:p>
                <a:r>
                  <a:rPr lang="en-US" altLang="zh-CN" sz="600" dirty="0"/>
                  <a:t>| </a:t>
                </a:r>
                <a:r>
                  <a:rPr lang="zh-CN" altLang="en-US" sz="600" dirty="0"/>
                  <a:t>收益 </a:t>
                </a:r>
                <a:r>
                  <a:rPr lang="en-US" altLang="zh-CN" sz="600" dirty="0"/>
                  <a:t>| 127  | 83   | 165  | 96   | 112  | 88   | 135  | 141  | 117  | 94   |</a:t>
                </a:r>
              </a:p>
              <a:p>
                <a:r>
                  <a:rPr lang="zh-CN" altLang="zh-CN" sz="600" b="1" dirty="0"/>
                  <a:t>互斥圆圈（距离</a:t>
                </a:r>
                <a:r>
                  <a:rPr lang="en-US" altLang="zh-CN" sz="600" b="1" dirty="0"/>
                  <a:t> &lt; 2 </a:t>
                </a:r>
                <a:r>
                  <a:rPr lang="zh-CN" altLang="zh-CN" sz="600" b="1" dirty="0"/>
                  <a:t>英里）：</a:t>
                </a:r>
                <a:r>
                  <a:rPr lang="zh-CN" altLang="en-US" sz="600" b="1" dirty="0"/>
                  <a:t>略</a:t>
                </a:r>
                <a:endParaRPr lang="zh-CN" altLang="zh-CN" sz="600" dirty="0"/>
              </a:p>
              <a:p>
                <a:r>
                  <a:rPr lang="zh-CN" altLang="zh-CN" sz="600" b="1" dirty="0"/>
                  <a:t>决策变量：</a:t>
                </a:r>
                <a:endParaRPr lang="zh-CN" altLang="zh-CN" sz="600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6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60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6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6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6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60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zh-CN" sz="600" dirty="0"/>
                  <a:t>：门店 </a:t>
                </a:r>
                <a14:m>
                  <m:oMath xmlns:m="http://schemas.openxmlformats.org/officeDocument/2006/math">
                    <m:r>
                      <a:rPr lang="zh-CN" altLang="en-US" sz="6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600" dirty="0"/>
                  <a:t> </a:t>
                </a:r>
                <a:r>
                  <a:rPr lang="zh-CN" altLang="zh-CN" sz="600" dirty="0"/>
                  <a:t>是否保留（</a:t>
                </a:r>
                <a:r>
                  <a:rPr lang="en-US" altLang="zh-CN" sz="600" dirty="0"/>
                  <a:t>1 = </a:t>
                </a:r>
                <a:r>
                  <a:rPr lang="zh-CN" altLang="zh-CN" sz="600" dirty="0"/>
                  <a:t>保留）</a:t>
                </a:r>
              </a:p>
              <a:p>
                <a:r>
                  <a:rPr lang="zh-CN" altLang="zh-CN" sz="600" b="1" dirty="0"/>
                  <a:t>目标函数：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600">
                        <a:latin typeface="Cambria Math" panose="02040503050406030204" pitchFamily="18" charset="0"/>
                      </a:rPr>
                      <m:t>max</m:t>
                    </m:r>
                    <m:r>
                      <a:rPr lang="zh-CN" altLang="en-US" sz="600" i="1">
                        <a:latin typeface="Cambria Math" panose="02040503050406030204" pitchFamily="18" charset="0"/>
                      </a:rPr>
                      <m:t> 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en-US" sz="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6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en-US" sz="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zh-CN" altLang="zh-CN" sz="600" dirty="0"/>
              </a:p>
              <a:p>
                <a:r>
                  <a:rPr lang="zh-CN" altLang="zh-CN" sz="600" dirty="0"/>
                  <a:t>其中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6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zh-CN" altLang="en-US" sz="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600" dirty="0"/>
                  <a:t> </a:t>
                </a:r>
                <a:r>
                  <a:rPr lang="zh-CN" altLang="zh-CN" sz="600" dirty="0"/>
                  <a:t>为门店 </a:t>
                </a:r>
                <a14:m>
                  <m:oMath xmlns:m="http://schemas.openxmlformats.org/officeDocument/2006/math">
                    <m:r>
                      <a:rPr lang="zh-CN" altLang="en-US" sz="6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600" dirty="0"/>
                  <a:t> </a:t>
                </a:r>
                <a:r>
                  <a:rPr lang="zh-CN" altLang="zh-CN" sz="600" dirty="0"/>
                  <a:t>的收益。</a:t>
                </a:r>
              </a:p>
              <a:p>
                <a:r>
                  <a:rPr lang="zh-CN" altLang="zh-CN" sz="600" b="1" dirty="0"/>
                  <a:t>约束条件：</a:t>
                </a:r>
                <a14:m>
                  <m:oMath xmlns:m="http://schemas.openxmlformats.org/officeDocument/2006/math">
                    <m:eqArr>
                      <m:eqArrPr>
                        <m:ctrlPr>
                          <a:rPr lang="zh-CN" altLang="en-US" sz="600" i="1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6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6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60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600"/>
                          <m:t>（</m:t>
                        </m:r>
                        <m:r>
                          <m:rPr>
                            <m:nor/>
                          </m:rPr>
                          <a:rPr lang="en-US" altLang="zh-CN" sz="600"/>
                          <m:t>Circle</m:t>
                        </m:r>
                        <m:r>
                          <m:rPr>
                            <m:nor/>
                          </m:rPr>
                          <a:rPr lang="en-US" altLang="zh-CN" sz="600"/>
                          <m:t> </m:t>
                        </m:r>
                        <m:r>
                          <m:rPr>
                            <m:nor/>
                          </m:rPr>
                          <a:rPr lang="en-US" altLang="zh-CN" sz="600"/>
                          <m:t>1</m:t>
                        </m:r>
                        <m:r>
                          <m:rPr>
                            <m:nor/>
                          </m:rPr>
                          <a:rPr lang="zh-CN" altLang="en-US" sz="600"/>
                          <m:t>）</m:t>
                        </m:r>
                      </m:e>
                      <m:e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6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6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60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600"/>
                          <m:t>（</m:t>
                        </m:r>
                        <m:r>
                          <m:rPr>
                            <m:nor/>
                          </m:rPr>
                          <a:rPr lang="en-US" altLang="zh-CN" sz="600"/>
                          <m:t>Circle</m:t>
                        </m:r>
                        <m:r>
                          <m:rPr>
                            <m:nor/>
                          </m:rPr>
                          <a:rPr lang="en-US" altLang="zh-CN" sz="600"/>
                          <m:t> </m:t>
                        </m:r>
                        <m:r>
                          <m:rPr>
                            <m:nor/>
                          </m:rPr>
                          <a:rPr lang="en-US" altLang="zh-CN" sz="600"/>
                          <m:t>2</m:t>
                        </m:r>
                        <m:r>
                          <m:rPr>
                            <m:nor/>
                          </m:rPr>
                          <a:rPr lang="zh-CN" altLang="en-US" sz="600"/>
                          <m:t>）</m:t>
                        </m:r>
                      </m:e>
                      <m:e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6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altLang="zh-CN" sz="6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altLang="zh-CN" sz="6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60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600"/>
                          <m:t>（</m:t>
                        </m:r>
                        <m:r>
                          <m:rPr>
                            <m:nor/>
                          </m:rPr>
                          <a:rPr lang="en-US" altLang="zh-CN" sz="600"/>
                          <m:t>Circle</m:t>
                        </m:r>
                        <m:r>
                          <m:rPr>
                            <m:nor/>
                          </m:rPr>
                          <a:rPr lang="en-US" altLang="zh-CN" sz="600"/>
                          <m:t> </m:t>
                        </m:r>
                        <m:r>
                          <m:rPr>
                            <m:nor/>
                          </m:rPr>
                          <a:rPr lang="en-US" altLang="zh-CN" sz="600"/>
                          <m:t>3</m:t>
                        </m:r>
                        <m:r>
                          <m:rPr>
                            <m:nor/>
                          </m:rPr>
                          <a:rPr lang="zh-CN" altLang="en-US" sz="600"/>
                          <m:t>）</m:t>
                        </m:r>
                      </m:e>
                      <m:e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altLang="zh-CN" sz="6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altLang="zh-CN" sz="6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60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600"/>
                          <m:t>（</m:t>
                        </m:r>
                        <m:r>
                          <m:rPr>
                            <m:nor/>
                          </m:rPr>
                          <a:rPr lang="en-US" altLang="zh-CN" sz="600"/>
                          <m:t>Circle</m:t>
                        </m:r>
                        <m:r>
                          <m:rPr>
                            <m:nor/>
                          </m:rPr>
                          <a:rPr lang="en-US" altLang="zh-CN" sz="600"/>
                          <m:t> </m:t>
                        </m:r>
                        <m:r>
                          <m:rPr>
                            <m:nor/>
                          </m:rPr>
                          <a:rPr lang="en-US" altLang="zh-CN" sz="600"/>
                          <m:t>4</m:t>
                        </m:r>
                        <m:r>
                          <m:rPr>
                            <m:nor/>
                          </m:rPr>
                          <a:rPr lang="zh-CN" altLang="en-US" sz="600"/>
                          <m:t>）</m:t>
                        </m:r>
                      </m:e>
                      <m:e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US" altLang="zh-CN" sz="6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r>
                          <a:rPr lang="en-US" altLang="zh-CN" sz="6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60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600"/>
                          <m:t>（</m:t>
                        </m:r>
                        <m:r>
                          <m:rPr>
                            <m:nor/>
                          </m:rPr>
                          <a:rPr lang="en-US" altLang="zh-CN" sz="600"/>
                          <m:t>Circle</m:t>
                        </m:r>
                        <m:r>
                          <m:rPr>
                            <m:nor/>
                          </m:rPr>
                          <a:rPr lang="en-US" altLang="zh-CN" sz="600"/>
                          <m:t> </m:t>
                        </m:r>
                        <m:r>
                          <m:rPr>
                            <m:nor/>
                          </m:rPr>
                          <a:rPr lang="en-US" altLang="zh-CN" sz="600"/>
                          <m:t>5</m:t>
                        </m:r>
                        <m:r>
                          <m:rPr>
                            <m:nor/>
                          </m:rPr>
                          <a:rPr lang="zh-CN" altLang="en-US" sz="600"/>
                          <m:t>）</m:t>
                        </m:r>
                      </m:e>
                      <m:e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  <m:r>
                          <a:rPr lang="en-US" altLang="zh-CN" sz="6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  <m:r>
                          <a:rPr lang="en-US" altLang="zh-CN" sz="6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60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600"/>
                          <m:t>（</m:t>
                        </m:r>
                        <m:r>
                          <m:rPr>
                            <m:nor/>
                          </m:rPr>
                          <a:rPr lang="en-US" altLang="zh-CN" sz="600"/>
                          <m:t>Circle</m:t>
                        </m:r>
                        <m:r>
                          <m:rPr>
                            <m:nor/>
                          </m:rPr>
                          <a:rPr lang="en-US" altLang="zh-CN" sz="600"/>
                          <m:t> </m:t>
                        </m:r>
                        <m:r>
                          <m:rPr>
                            <m:nor/>
                          </m:rPr>
                          <a:rPr lang="en-US" altLang="zh-CN" sz="600"/>
                          <m:t>6</m:t>
                        </m:r>
                        <m:r>
                          <m:rPr>
                            <m:nor/>
                          </m:rPr>
                          <a:rPr lang="zh-CN" altLang="en-US" sz="600"/>
                          <m:t>）</m:t>
                        </m:r>
                      </m:e>
                      <m:e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altLang="zh-CN" sz="6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600" i="1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60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600"/>
                          <m:t>（</m:t>
                        </m:r>
                        <m:r>
                          <m:rPr>
                            <m:nor/>
                          </m:rPr>
                          <a:rPr lang="en-US" altLang="zh-CN" sz="600"/>
                          <m:t>Circle</m:t>
                        </m:r>
                        <m:r>
                          <m:rPr>
                            <m:nor/>
                          </m:rPr>
                          <a:rPr lang="en-US" altLang="zh-CN" sz="600"/>
                          <m:t> </m:t>
                        </m:r>
                        <m:r>
                          <m:rPr>
                            <m:nor/>
                          </m:rPr>
                          <a:rPr lang="en-US" altLang="zh-CN" sz="600"/>
                          <m:t>7</m:t>
                        </m:r>
                        <m:r>
                          <m:rPr>
                            <m:nor/>
                          </m:rPr>
                          <a:rPr lang="zh-CN" altLang="en-US" sz="600"/>
                          <m:t>）</m:t>
                        </m:r>
                      </m:e>
                      <m:e>
                        <m:sSub>
                          <m:sSubPr>
                            <m:ctrlPr>
                              <a:rPr lang="zh-CN" altLang="en-US" sz="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60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60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6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600">
                            <a:latin typeface="Cambria Math" panose="02040503050406030204" pitchFamily="18" charset="0"/>
                          </a:rPr>
                          <m:t>},</m:t>
                        </m:r>
                        <m:r>
                          <a:rPr lang="zh-CN" altLang="en-US" sz="600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zh-CN" altLang="en-US" sz="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6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60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en-US" altLang="zh-CN" sz="6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eqArr>
                  </m:oMath>
                </a14:m>
                <a:endParaRPr lang="zh-CN" altLang="zh-CN" sz="600" dirty="0"/>
              </a:p>
              <a:p>
                <a:endParaRPr lang="zh-CN" altLang="zh-CN" sz="6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064F966-A0BD-86B0-8073-81FC2B010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8306" y="4635239"/>
                <a:ext cx="2632156" cy="20745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>
            <a:extLst>
              <a:ext uri="{FF2B5EF4-FFF2-40B4-BE49-F238E27FC236}">
                <a16:creationId xmlns:a16="http://schemas.microsoft.com/office/drawing/2014/main" id="{85DA9FC7-F86B-FE01-80BE-CFCAE2FF3E6A}"/>
              </a:ext>
            </a:extLst>
          </p:cNvPr>
          <p:cNvSpPr txBox="1"/>
          <p:nvPr/>
        </p:nvSpPr>
        <p:spPr>
          <a:xfrm>
            <a:off x="5077331" y="4698088"/>
            <a:ext cx="2255520" cy="203132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square" rtlCol="0">
            <a:spAutoFit/>
          </a:bodyPr>
          <a:lstStyle/>
          <a:p>
            <a:pPr latinLnBrk="1">
              <a:spcAft>
                <a:spcPts val="1000"/>
              </a:spcAft>
              <a:buNone/>
            </a:pP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 </a:t>
            </a:r>
            <a:r>
              <a:rPr lang="en-US" altLang="zh-CN" sz="6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6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gp.Model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6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‘</a:t>
            </a:r>
            <a:r>
              <a:rPr lang="en-US" altLang="zh-CN" sz="6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store_selection</a:t>
            </a:r>
            <a:r>
              <a:rPr lang="en-US" altLang="zh-CN" sz="6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’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6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6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en-US" altLang="zh-CN" sz="6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6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m.addVars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(I, </a:t>
            </a:r>
            <a:r>
              <a:rPr lang="en-US" altLang="zh-CN" sz="6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vtype</a:t>
            </a:r>
            <a:r>
              <a:rPr lang="en-US" altLang="zh-CN" sz="6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6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gp.GRB.BINARY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name</a:t>
            </a:r>
            <a:r>
              <a:rPr lang="en-US" altLang="zh-CN" sz="6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6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‘x’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6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6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6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m.setObjective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6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x.prod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(revenue), </a:t>
            </a:r>
            <a:r>
              <a:rPr lang="en-US" altLang="zh-CN" sz="6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gp.GRB.MAXIMIZE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6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b="1" i="1" dirty="0">
                <a:solidFill>
                  <a:srgbClr val="60A0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en-US" altLang="zh-CN" sz="500" b="1" i="1" dirty="0" err="1">
                <a:solidFill>
                  <a:srgbClr val="60A0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x.prod</a:t>
            </a:r>
            <a:r>
              <a:rPr lang="en-US" altLang="zh-CN" sz="500" b="1" i="1" dirty="0">
                <a:solidFill>
                  <a:srgbClr val="60A0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(re)</a:t>
            </a:r>
            <a:r>
              <a:rPr lang="zh-CN" altLang="en-US" sz="500" b="1" i="1" dirty="0">
                <a:solidFill>
                  <a:srgbClr val="60A0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即</a:t>
            </a:r>
            <a:r>
              <a:rPr lang="en-US" altLang="zh-CN" sz="500" b="1" i="1" dirty="0">
                <a:solidFill>
                  <a:srgbClr val="60A0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</a:t>
            </a:r>
            <a:r>
              <a:rPr lang="zh-CN" altLang="en-US" sz="500" b="1" i="1" dirty="0">
                <a:solidFill>
                  <a:srgbClr val="60A0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500" b="1" i="1" dirty="0">
                <a:solidFill>
                  <a:srgbClr val="60A0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xi*re</a:t>
            </a:r>
            <a:r>
              <a:rPr lang="zh-CN" altLang="en-US" sz="500" b="1" i="1" dirty="0">
                <a:solidFill>
                  <a:srgbClr val="60A0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r>
              <a:rPr lang="en-US" altLang="zh-CN" sz="500" b="1" i="1" dirty="0">
                <a:solidFill>
                  <a:srgbClr val="60A0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zh-CN" altLang="en-US" sz="500" b="1" i="1" dirty="0">
                <a:solidFill>
                  <a:srgbClr val="60A0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“点积”</a:t>
            </a:r>
            <a:br>
              <a:rPr lang="en-US" altLang="zh-CN" sz="6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6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m.addConstrs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br>
              <a:rPr lang="en-US" altLang="zh-CN" sz="6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(</a:t>
            </a:r>
            <a:r>
              <a:rPr lang="en-US" altLang="zh-CN" sz="6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gp.quicksum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(x[</a:t>
            </a:r>
            <a:r>
              <a:rPr lang="en-US" altLang="zh-CN" sz="6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6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6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6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circles[k]) </a:t>
            </a:r>
            <a:r>
              <a:rPr lang="en-US" altLang="zh-CN" sz="6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6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6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k </a:t>
            </a:r>
            <a:r>
              <a:rPr lang="en-US" altLang="zh-CN" sz="6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6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)),</a:t>
            </a:r>
            <a:br>
              <a:rPr lang="en-US" altLang="zh-CN" sz="6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name</a:t>
            </a:r>
            <a:r>
              <a:rPr lang="en-US" altLang="zh-CN" sz="6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6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‘conflict’</a:t>
            </a:r>
            <a:br>
              <a:rPr lang="en-US" altLang="zh-CN" sz="6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600" b="1" i="1" dirty="0">
                <a:solidFill>
                  <a:srgbClr val="60A0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# </a:t>
            </a:r>
            <a:r>
              <a:rPr lang="zh-CN" altLang="en-US" sz="600" b="1" i="1" dirty="0">
                <a:solidFill>
                  <a:srgbClr val="60A0B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对于给出矩阵情况下的求解</a:t>
            </a:r>
            <a:br>
              <a:rPr lang="en-US" altLang="zh-CN" sz="6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6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6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6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求解</a:t>
            </a:r>
            <a:r>
              <a:rPr lang="en-US" altLang="zh-CN" sz="6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=====</a:t>
            </a:r>
            <a:br>
              <a:rPr lang="en-US" altLang="zh-CN" sz="6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6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m.optimize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br>
              <a:rPr lang="en-US" altLang="zh-CN" sz="6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6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6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'=== </a:t>
            </a:r>
            <a:r>
              <a:rPr lang="zh-CN" altLang="zh-CN" sz="6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求解结果</a:t>
            </a:r>
            <a:r>
              <a:rPr lang="en-US" altLang="zh-CN" sz="6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==='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6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keep </a:t>
            </a:r>
            <a:r>
              <a:rPr lang="en-US" altLang="zh-CN" sz="6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[</a:t>
            </a:r>
            <a:r>
              <a:rPr lang="en-US" altLang="zh-CN" sz="6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6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6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6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I </a:t>
            </a:r>
            <a:r>
              <a:rPr lang="en-US" altLang="zh-CN" sz="6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</a:t>
            </a:r>
            <a:r>
              <a:rPr lang="en-US" altLang="zh-CN" sz="6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].X </a:t>
            </a:r>
            <a:r>
              <a:rPr lang="en-US" altLang="zh-CN" sz="6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6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0.9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br>
              <a:rPr lang="en-US" altLang="zh-CN" sz="6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close </a:t>
            </a:r>
            <a:r>
              <a:rPr lang="en-US" altLang="zh-CN" sz="6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[</a:t>
            </a:r>
            <a:r>
              <a:rPr lang="en-US" altLang="zh-CN" sz="6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6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6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6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I </a:t>
            </a:r>
            <a:r>
              <a:rPr lang="en-US" altLang="zh-CN" sz="6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</a:t>
            </a:r>
            <a:r>
              <a:rPr lang="en-US" altLang="zh-CN" sz="6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].X </a:t>
            </a:r>
            <a:r>
              <a:rPr lang="en-US" altLang="zh-CN" sz="6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6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0.1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br>
              <a:rPr lang="en-US" altLang="zh-CN" sz="6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6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f'</a:t>
            </a:r>
            <a:r>
              <a:rPr lang="zh-CN" altLang="zh-CN" sz="6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保留的门店：</a:t>
            </a:r>
            <a:r>
              <a:rPr lang="en-US" altLang="zh-CN" sz="6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keep</a:t>
            </a:r>
            <a:r>
              <a:rPr lang="en-US" altLang="zh-CN" sz="6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6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6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6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f'</a:t>
            </a:r>
            <a:r>
              <a:rPr lang="zh-CN" altLang="zh-CN" sz="6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关闭的门店：</a:t>
            </a:r>
            <a:r>
              <a:rPr lang="en-US" altLang="zh-CN" sz="6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close</a:t>
            </a:r>
            <a:r>
              <a:rPr lang="en-US" altLang="zh-CN" sz="6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6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6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6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6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f'</a:t>
            </a:r>
            <a:r>
              <a:rPr lang="zh-CN" altLang="zh-CN" sz="6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总收入：</a:t>
            </a:r>
            <a:r>
              <a:rPr lang="en-US" altLang="zh-CN" sz="6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$</a:t>
            </a:r>
            <a:r>
              <a:rPr lang="en-US" altLang="zh-CN" sz="6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6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6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objVal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6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6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1000</a:t>
            </a:r>
            <a:r>
              <a:rPr lang="en-US" altLang="zh-CN" sz="6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:,.0f}</a:t>
            </a:r>
            <a:r>
              <a:rPr lang="en-US" altLang="zh-CN" sz="6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6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600" dirty="0">
              <a:effectLst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C9A7141-E5BF-3AEC-5622-4A0B5E05253B}"/>
              </a:ext>
            </a:extLst>
          </p:cNvPr>
          <p:cNvCxnSpPr/>
          <p:nvPr/>
        </p:nvCxnSpPr>
        <p:spPr>
          <a:xfrm>
            <a:off x="4962523" y="4568190"/>
            <a:ext cx="4997939" cy="474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822C057-B924-0467-061E-DE566609A2B3}"/>
                  </a:ext>
                </a:extLst>
              </p:cNvPr>
              <p:cNvSpPr txBox="1"/>
              <p:nvPr/>
            </p:nvSpPr>
            <p:spPr>
              <a:xfrm>
                <a:off x="2293763" y="5430898"/>
                <a:ext cx="2655044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600" b="1" dirty="0"/>
                  <a:t>4.5</a:t>
                </a:r>
                <a:r>
                  <a:rPr lang="zh-CN" altLang="zh-CN" sz="600" b="1" dirty="0"/>
                  <a:t>：</a:t>
                </a:r>
                <a:r>
                  <a:rPr lang="en-US" altLang="zh-CN" sz="600" b="1" dirty="0"/>
                  <a:t>Exercise — p-Median </a:t>
                </a:r>
                <a:r>
                  <a:rPr lang="zh-CN" altLang="zh-CN" sz="600" b="1" dirty="0"/>
                  <a:t>中国城市设施选址</a:t>
                </a:r>
                <a:r>
                  <a:rPr lang="zh-CN" altLang="en-US" sz="600" b="1" dirty="0"/>
                  <a:t>（反面）</a:t>
                </a:r>
                <a:endParaRPr lang="zh-CN" altLang="zh-CN" sz="600" b="1" dirty="0"/>
              </a:p>
              <a:p>
                <a:r>
                  <a:rPr lang="zh-CN" altLang="zh-CN" sz="600" b="1" i="1" dirty="0"/>
                  <a:t>问题描述</a:t>
                </a:r>
              </a:p>
              <a:p>
                <a:r>
                  <a:rPr lang="zh-CN" altLang="zh-CN" sz="600" dirty="0"/>
                  <a:t>使用 </a:t>
                </a:r>
                <a:r>
                  <a:rPr lang="en-US" altLang="zh-CN" sz="600" dirty="0"/>
                  <a:t>cn.csv </a:t>
                </a:r>
                <a:r>
                  <a:rPr lang="zh-CN" altLang="zh-CN" sz="600" dirty="0"/>
                  <a:t>数据（中国</a:t>
                </a:r>
                <a:r>
                  <a:rPr lang="en-US" altLang="zh-CN" sz="600" dirty="0"/>
                  <a:t> 2577 </a:t>
                </a:r>
                <a:r>
                  <a:rPr lang="zh-CN" altLang="zh-CN" sz="600" dirty="0"/>
                  <a:t>个城市，包含经纬度、人口、行政级别等），从中选择行政级别为 </a:t>
                </a:r>
                <a:r>
                  <a:rPr lang="en-US" altLang="zh-CN" sz="600" dirty="0"/>
                  <a:t>admin </a:t>
                </a:r>
                <a:r>
                  <a:rPr lang="zh-CN" altLang="zh-CN" sz="600" dirty="0"/>
                  <a:t>或 </a:t>
                </a:r>
                <a:r>
                  <a:rPr lang="en-US" altLang="zh-CN" sz="600" dirty="0"/>
                  <a:t>primary </a:t>
                </a:r>
                <a:r>
                  <a:rPr lang="zh-CN" altLang="zh-CN" sz="600" dirty="0"/>
                  <a:t>的城市作为候选设施点，建立</a:t>
                </a:r>
                <a:r>
                  <a:rPr lang="en-US" altLang="zh-CN" sz="600" dirty="0"/>
                  <a:t> p-Median </a:t>
                </a:r>
                <a:r>
                  <a:rPr lang="zh-CN" altLang="zh-CN" sz="600" dirty="0"/>
                  <a:t>模型，选择 </a:t>
                </a:r>
                <a14:m>
                  <m:oMath xmlns:m="http://schemas.openxmlformats.org/officeDocument/2006/math">
                    <m:r>
                      <a:rPr lang="zh-CN" altLang="en-US" sz="6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600" i="1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zh-CN" sz="60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altLang="zh-CN" sz="600" dirty="0"/>
                  <a:t> </a:t>
                </a:r>
                <a:r>
                  <a:rPr lang="zh-CN" altLang="zh-CN" sz="600" dirty="0"/>
                  <a:t>的城市作为设施点，最小化所有城市到最近设施点的总距离。结果用</a:t>
                </a:r>
                <a:r>
                  <a:rPr lang="en-US" altLang="zh-CN" sz="600" dirty="0"/>
                  <a:t> folium </a:t>
                </a:r>
                <a:r>
                  <a:rPr lang="zh-CN" altLang="zh-CN" sz="600" dirty="0"/>
                  <a:t>地图可视化。</a:t>
                </a:r>
              </a:p>
              <a:p>
                <a:endParaRPr lang="zh-CN" altLang="zh-CN" sz="600" dirty="0"/>
              </a:p>
            </p:txBody>
          </p:sp>
        </mc:Choice>
        <mc:Fallback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822C057-B924-0467-061E-DE566609A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3763" y="5430898"/>
                <a:ext cx="2655044" cy="7386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51D315A-7805-168E-A3CC-60F00838CB2F}"/>
              </a:ext>
            </a:extLst>
          </p:cNvPr>
          <p:cNvCxnSpPr/>
          <p:nvPr/>
        </p:nvCxnSpPr>
        <p:spPr>
          <a:xfrm>
            <a:off x="0" y="4791789"/>
            <a:ext cx="23145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1922CA7-A55C-DF44-40D2-4AF6864D86E4}"/>
              </a:ext>
            </a:extLst>
          </p:cNvPr>
          <p:cNvCxnSpPr/>
          <p:nvPr/>
        </p:nvCxnSpPr>
        <p:spPr>
          <a:xfrm>
            <a:off x="2324101" y="5445125"/>
            <a:ext cx="26384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122ABFA5-C82F-1C7D-CEF1-C81BD9EBD7F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56715"/>
          <a:stretch>
            <a:fillRect/>
          </a:stretch>
        </p:blipFill>
        <p:spPr>
          <a:xfrm>
            <a:off x="2030624" y="6074048"/>
            <a:ext cx="1676235" cy="73462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F084DB6-C4D1-3A57-26C9-3F2CAFDB3A9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40551" r="37112"/>
          <a:stretch>
            <a:fillRect/>
          </a:stretch>
        </p:blipFill>
        <p:spPr>
          <a:xfrm>
            <a:off x="3700403" y="6029163"/>
            <a:ext cx="1226193" cy="81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25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44D02-314E-D9FC-88FD-751D63374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D29A4060-3298-0CA2-3AC2-9B161E853238}"/>
              </a:ext>
            </a:extLst>
          </p:cNvPr>
          <p:cNvSpPr txBox="1"/>
          <p:nvPr/>
        </p:nvSpPr>
        <p:spPr>
          <a:xfrm>
            <a:off x="4953000" y="23793"/>
            <a:ext cx="2499259" cy="2739211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square" rtlCol="0">
            <a:spAutoFit/>
          </a:bodyPr>
          <a:lstStyle/>
          <a:p>
            <a:pPr latinLnBrk="1">
              <a:spcAft>
                <a:spcPts val="1000"/>
              </a:spcAft>
              <a:buNone/>
            </a:pPr>
            <a:r>
              <a:rPr lang="en-US" altLang="zh-CN" sz="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numpy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np </a:t>
            </a:r>
            <a:r>
              <a:rPr lang="en-US" altLang="zh-CN" sz="400" dirty="0">
                <a:highlight>
                  <a:srgbClr val="FFFF00"/>
                </a:highlight>
                <a:latin typeface="Consolas" panose="020B0609020204030204" pitchFamily="49" charset="0"/>
                <a:cs typeface="Times New Roman" panose="02020603050405020304" pitchFamily="18" charset="0"/>
              </a:rPr>
              <a:t>###5.1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matplotlib.pyplot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plt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gurobipy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数据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=====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实际作业中应替换为题目提供的坐标或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CSV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20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list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(n))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[(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j)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!=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j]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np.random.seed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loc_x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np.random.randint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loc_y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np.random.randint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计算欧氏距离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d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{(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j): ((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loc_x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loc_x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[j])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**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loc_y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loc_y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[j])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**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**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0.5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j)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A}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模型建立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=====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gp.Model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‘tsp’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m.addVars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(A,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vtype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gp.GRB.BINARY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name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‘x’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m.setObjective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x.prod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(d),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gp.GRB.MINIMIZE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流守恒约束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m.addConstrs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x.</a:t>
            </a:r>
            <a:r>
              <a:rPr lang="en-US" altLang="zh-CN" sz="4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sum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‘*’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(n)), name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‘inflow’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m.addConstrs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x.</a:t>
            </a:r>
            <a:r>
              <a:rPr lang="en-US" altLang="zh-CN" sz="4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sum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‘*’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(n)), name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‘outflow’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MTZ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消圈约束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u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m.addVars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(N,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ub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name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‘u’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m.addConstrs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((x[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&gt;&gt;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(u[j]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u[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n)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n)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!=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j),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name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‘</a:t>
            </a:r>
            <a:r>
              <a:rPr lang="en-US" altLang="zh-CN" sz="4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mtz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’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求解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=====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m.params.timelimit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30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m.optimize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可视化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=====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m.status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!=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gp.GRB.INFEASIBLE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selected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[(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j)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j)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A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j].x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0.9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plt.scatter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loc_x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loc_y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c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‘r’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marker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‘o’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400" i="1" dirty="0">
                <a:solidFill>
                  <a:srgbClr val="60A0B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altLang="zh-CN" sz="400" b="1" i="1" dirty="0">
                <a:solidFill>
                  <a:srgbClr val="60A0B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#</a:t>
            </a:r>
            <a:r>
              <a:rPr lang="zh-CN" altLang="en-US" sz="400" b="1" i="1" dirty="0">
                <a:solidFill>
                  <a:srgbClr val="60A0B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用红色圆点标出每个城市的位置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j)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selected: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plt.plot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loc_x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loc_x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[j]), 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loc_y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loc_y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[j]), c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‘b’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400" b="1" i="1" dirty="0">
                <a:solidFill>
                  <a:srgbClr val="60A0B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#</a:t>
            </a:r>
            <a:r>
              <a:rPr lang="zh-CN" altLang="en-US" sz="400" b="1" i="1" dirty="0">
                <a:solidFill>
                  <a:srgbClr val="60A0B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蓝色连线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plt.savefig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'tour.png'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dpi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300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plt.show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400" dirty="0">
              <a:effectLst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02484E0-B48A-C08E-8257-10EF91179798}"/>
              </a:ext>
            </a:extLst>
          </p:cNvPr>
          <p:cNvSpPr txBox="1"/>
          <p:nvPr/>
        </p:nvSpPr>
        <p:spPr>
          <a:xfrm>
            <a:off x="1" y="0"/>
            <a:ext cx="2479472" cy="2739211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square" rtlCol="0">
            <a:spAutoFit/>
          </a:bodyPr>
          <a:lstStyle/>
          <a:p>
            <a:pPr latinLnBrk="1">
              <a:spcAft>
                <a:spcPts val="1000"/>
              </a:spcAft>
              <a:buNone/>
            </a:pPr>
            <a:r>
              <a:rPr lang="en-US" altLang="zh-CN" sz="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numpy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np </a:t>
            </a:r>
            <a:r>
              <a:rPr lang="en-US" altLang="zh-CN" sz="4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### 4.3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gurobipy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数据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=====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客户数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候选设施数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np.random.seed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42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d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np.random.randint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n) 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客户需求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np.random.randint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200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m) 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固定开设成本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np.random.randint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80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150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m) 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设施容量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c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np.random.randint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(n, m)) 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单位服务成本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(n)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J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(m)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模型建立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=====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gp.Model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fixed_charge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model.addVars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(J,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vtype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gp.GRB.BINARY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name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'x'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model.addVars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(I, J,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ub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name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'y'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model.setObjective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gp.quicksum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(f[j]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x[j]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J)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gp.quicksum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(c[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d[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y[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I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J),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gp.GRB.MINIMIZE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model.addConstrs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gp.quicksum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(y[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J)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I), name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'demand'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model.addConstrs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gp.quicksum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(d[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y[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I)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v[j]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x[j]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J), name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'capacity'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model.optimize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输出结果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model.status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gp.GRB.OPTIMAL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</a:t>
            </a:r>
            <a:r>
              <a:rPr lang="zh-CN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最优总成本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ObjVal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:.2f}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opened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[j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x[j].X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0.9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</a:t>
            </a:r>
            <a:r>
              <a:rPr lang="zh-CN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开设设施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opened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opened: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served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I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y[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j].X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0.01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  </a:t>
            </a:r>
            <a:r>
              <a:rPr lang="zh-CN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设施 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服务客户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served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400" dirty="0">
              <a:effectLst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EDAA1E7-AA5D-E96A-B55E-7AC23313192B}"/>
              </a:ext>
            </a:extLst>
          </p:cNvPr>
          <p:cNvSpPr txBox="1"/>
          <p:nvPr/>
        </p:nvSpPr>
        <p:spPr>
          <a:xfrm>
            <a:off x="-19787" y="2674481"/>
            <a:ext cx="2499259" cy="419499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square" rtlCol="0">
            <a:spAutoFit/>
          </a:bodyPr>
          <a:lstStyle/>
          <a:p>
            <a:pPr latinLnBrk="1">
              <a:spcAft>
                <a:spcPts val="1000"/>
              </a:spcAft>
              <a:buNone/>
            </a:pPr>
            <a:r>
              <a:rPr lang="en-US" altLang="zh-CN" sz="43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numpy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np   </a:t>
            </a:r>
            <a:r>
              <a:rPr lang="en-US" altLang="zh-CN" sz="430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###4.5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pandas </a:t>
            </a:r>
            <a:r>
              <a:rPr lang="en-US" altLang="zh-CN" sz="43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pd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gurobipy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folium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数据读取与预处理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=====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data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pd.read_csv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'cn.csv'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读取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CSV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文件，每行一个城市，含经纬度、行政级别等字段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data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data[(data[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'capital'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'admin'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(data[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'capital'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'primary'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)]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data.shape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获取筛选后的行数（城市数量）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cities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data[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'city'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].values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提取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'city'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列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城市名称数组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loc_x_vals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data[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3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lat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].values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纬度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提取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30" i="1" dirty="0" err="1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lat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列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纬度数组（后续计算距离用）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loc_y_vals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data[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3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lng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].values  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经度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提取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30" i="1" dirty="0" err="1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lng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列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经度数组（后续计算距离用）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loc_x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dict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zip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(cities,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loc_x_vals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loc_y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dict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zip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(cities,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loc_y_vals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cities  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客户集合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J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cities  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候选设施集合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round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(n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0.2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 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开设设施数量（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20%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计算欧氏距离（基于经纬度）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c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{(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j): ((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loc_x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loc_x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[j])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**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loc_y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loc_y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[j])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**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**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0.5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I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J}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模型建立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=====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gp.Model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3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pmedian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m.addVars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(I,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vtype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gp.GRB.BINARY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name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'x'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     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设施点是否开设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m.addVars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(I, J,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vtype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gp.GRB.BINARY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name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'y'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 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客户分配给哪个设施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m.setObjective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y.prod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(c),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gp.GRB.MINIMIZE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m.addConstrs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y.</a:t>
            </a:r>
            <a:r>
              <a:rPr lang="en-US" altLang="zh-CN" sz="43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sum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'*'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I), name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'cover'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 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每个客户被覆盖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m.addConstr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x.</a:t>
            </a:r>
            <a:r>
              <a:rPr lang="en-US" altLang="zh-CN" sz="43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sum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()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p, name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3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p_location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恰好开设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p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个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m.addConstrs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((y[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x[j]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I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J), name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'capacity'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只能去开设的设施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求解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=====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m.params.TimeLimit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30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m.optimize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'The solution time is'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m.runtime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'The MIP gap is'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m.mipgap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可视化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=====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m.status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!=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gp.GRB.INFEASIBLE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pmedian_map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folium.Map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(location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34.32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106.55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],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zoom_start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cities_selected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[j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x[j].x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0.9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I: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cities_selected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folium.Marker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(location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loc_x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],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loc_y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]),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              icon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folium.Icon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(color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'red'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), popup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).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add_to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pmedian_map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folium.Marker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(location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loc_x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],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loc_y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]), popup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).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add_to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pmedian_map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绘制分配关系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assignments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[(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j)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I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y[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j].x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0.9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j)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assignments: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folium.PolyLine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[(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loc_x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],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loc_y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]), 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loc_x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[j],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loc_y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[j])]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).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add_to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pmedian_map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pmedian_map.save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'pmedian_map.html'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430" dirty="0">
              <a:effectLst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12E5758D-5839-8950-ED9F-C716848A3B68}"/>
              </a:ext>
            </a:extLst>
          </p:cNvPr>
          <p:cNvCxnSpPr>
            <a:cxnSpLocks/>
          </p:cNvCxnSpPr>
          <p:nvPr/>
        </p:nvCxnSpPr>
        <p:spPr>
          <a:xfrm>
            <a:off x="0" y="2701449"/>
            <a:ext cx="24794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B3648DF9-5BD2-0986-06B1-B237B4D8F048}"/>
              </a:ext>
            </a:extLst>
          </p:cNvPr>
          <p:cNvCxnSpPr/>
          <p:nvPr/>
        </p:nvCxnSpPr>
        <p:spPr>
          <a:xfrm>
            <a:off x="2481378" y="4190703"/>
            <a:ext cx="0" cy="7332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1043BCC-53CD-365A-1630-39C051246BD6}"/>
              </a:ext>
            </a:extLst>
          </p:cNvPr>
          <p:cNvCxnSpPr>
            <a:cxnSpLocks/>
          </p:cNvCxnSpPr>
          <p:nvPr/>
        </p:nvCxnSpPr>
        <p:spPr>
          <a:xfrm>
            <a:off x="2479473" y="-34290"/>
            <a:ext cx="0" cy="42249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63065AE-9A9B-8966-A9C5-5C06D9760A20}"/>
                  </a:ext>
                </a:extLst>
              </p:cNvPr>
              <p:cNvSpPr txBox="1"/>
              <p:nvPr/>
            </p:nvSpPr>
            <p:spPr>
              <a:xfrm>
                <a:off x="2415431" y="-34290"/>
                <a:ext cx="2753469" cy="11773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500" b="1" dirty="0"/>
                  <a:t>Unit 5</a:t>
                </a:r>
                <a:r>
                  <a:rPr lang="zh-CN" altLang="zh-CN" sz="500" b="1" dirty="0"/>
                  <a:t>：</a:t>
                </a:r>
                <a:r>
                  <a:rPr lang="en-US" altLang="zh-CN" sz="500" b="1" dirty="0"/>
                  <a:t>Traveling Salesman Problem   </a:t>
                </a:r>
                <a:r>
                  <a:rPr lang="zh-CN" altLang="zh-CN" sz="500" b="1" dirty="0"/>
                  <a:t> </a:t>
                </a:r>
                <a:r>
                  <a:rPr lang="en-US" altLang="zh-CN" sz="500" b="1" dirty="0"/>
                  <a:t>5.1</a:t>
                </a:r>
                <a:r>
                  <a:rPr lang="zh-CN" altLang="zh-CN" sz="500" b="1" dirty="0"/>
                  <a:t>：</a:t>
                </a:r>
                <a:r>
                  <a:rPr lang="en-US" altLang="zh-CN" sz="500" b="1" dirty="0"/>
                  <a:t>TSP </a:t>
                </a:r>
                <a:r>
                  <a:rPr lang="zh-CN" altLang="zh-CN" sz="500" b="1" dirty="0"/>
                  <a:t>基础模型</a:t>
                </a:r>
                <a:endParaRPr lang="en-US" altLang="zh-CN" sz="500" b="1" dirty="0"/>
              </a:p>
              <a:p>
                <a:r>
                  <a:rPr lang="zh-CN" altLang="zh-CN" sz="500" dirty="0"/>
                  <a:t>给定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个城市（节点集合 </a:t>
                </a:r>
                <a14:m>
                  <m:oMath xmlns:m="http://schemas.openxmlformats.org/officeDocument/2006/math">
                    <m:r>
                      <a:rPr lang="zh-CN" altLang="en-US" sz="50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5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zh-CN" sz="500" dirty="0"/>
                  <a:t>），以及每对城市之间的距离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zh-CN" sz="500" dirty="0"/>
                  <a:t>，</a:t>
                </a:r>
                <a:endParaRPr lang="en-US" altLang="zh-CN" sz="500" dirty="0"/>
              </a:p>
              <a:p>
                <a:r>
                  <a:rPr lang="zh-CN" altLang="zh-CN" sz="500" dirty="0"/>
                  <a:t>寻找一条最短的回路，使得每个城市恰好被访问一次并返回起点。</a:t>
                </a:r>
                <a:endParaRPr lang="en-US" altLang="zh-CN" sz="500" dirty="0"/>
              </a:p>
              <a:p>
                <a:r>
                  <a:rPr lang="zh-CN" altLang="zh-CN" sz="500" b="1" dirty="0"/>
                  <a:t>参数：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zh-CN" sz="500" dirty="0"/>
                  <a:t>：城市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到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的距离</a:t>
                </a:r>
                <a:r>
                  <a:rPr lang="zh-CN" altLang="en-US" sz="500" dirty="0"/>
                  <a:t>；</a:t>
                </a:r>
                <a14:m>
                  <m:oMath xmlns:m="http://schemas.openxmlformats.org/officeDocument/2006/math">
                    <m:r>
                      <a:rPr lang="zh-CN" altLang="en-US" sz="500">
                        <a:latin typeface="Cambria Math" panose="02040503050406030204" pitchFamily="18" charset="0"/>
                      </a:rPr>
                      <m:t>𝒜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={(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)∣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zh-CN" altLang="en-US" sz="500"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sz="50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zh-CN" altLang="en-US" sz="500">
                        <a:latin typeface="Cambria Math" panose="02040503050406030204" pitchFamily="18" charset="0"/>
                      </a:rPr>
                      <m:t>≠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zh-CN" sz="500" dirty="0"/>
                  <a:t>：弧集合</a:t>
                </a:r>
              </a:p>
              <a:p>
                <a:r>
                  <a:rPr lang="zh-CN" altLang="zh-CN" sz="500" b="1" dirty="0"/>
                  <a:t>决策变量：</a:t>
                </a:r>
                <a:endParaRPr lang="zh-CN" altLang="zh-CN" sz="500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zh-CN" altLang="en-US" sz="5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zh-CN" sz="500" dirty="0"/>
                  <a:t>：是否从城市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直接走到城市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zh-CN" altLang="zh-CN" sz="500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5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5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zh-CN" sz="500" dirty="0"/>
                  <a:t>：城市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的访问顺序（</a:t>
                </a:r>
                <a:r>
                  <a:rPr lang="en-US" altLang="zh-CN" sz="500" dirty="0"/>
                  <a:t>MTZ </a:t>
                </a:r>
                <a:r>
                  <a:rPr lang="zh-CN" altLang="zh-CN" sz="500" dirty="0"/>
                  <a:t>辅助变量，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5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zh-CN" sz="500" dirty="0"/>
                  <a:t>）</a:t>
                </a:r>
              </a:p>
              <a:p>
                <a:r>
                  <a:rPr lang="zh-CN" altLang="zh-CN" sz="500" b="1" dirty="0"/>
                  <a:t>目标函数：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500">
                        <a:latin typeface="Cambria Math" panose="02040503050406030204" pitchFamily="18" charset="0"/>
                      </a:rPr>
                      <m:t>min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 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5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5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500">
                            <a:latin typeface="Cambria Math" panose="02040503050406030204" pitchFamily="18" charset="0"/>
                          </a:rPr>
                          <m:t>)∈</m:t>
                        </m:r>
                        <m:r>
                          <a:rPr lang="zh-CN" altLang="en-US" sz="500">
                            <a:latin typeface="Cambria Math" panose="02040503050406030204" pitchFamily="18" charset="0"/>
                          </a:rPr>
                          <m:t>𝒜</m:t>
                        </m:r>
                      </m:sub>
                      <m:sup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sSubPr>
                            <m:ctrlPr>
                              <a:rPr lang="zh-CN" altLang="en-US" sz="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zh-CN" altLang="en-US" sz="5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zh-CN" altLang="zh-CN" sz="500" dirty="0"/>
              </a:p>
              <a:p>
                <a:r>
                  <a:rPr lang="zh-CN" altLang="zh-CN" sz="500" b="1" dirty="0"/>
                  <a:t>约束条件：</a:t>
                </a:r>
                <a14:m>
                  <m:oMath xmlns:m="http://schemas.openxmlformats.org/officeDocument/2006/math">
                    <m:eqArr>
                      <m:eqArrPr>
                        <m:ctrlPr>
                          <a:rPr lang="zh-CN" altLang="en-US" sz="500" b="1" i="1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altLang="zh-CN" sz="500" b="1">
                                <a:latin typeface="Cambria Math" panose="02040503050406030204" pitchFamily="18" charset="0"/>
                              </a:rPr>
                              <m:t>:(</m:t>
                            </m:r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altLang="zh-CN" sz="500" b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CN" sz="500" b="1">
                                <a:latin typeface="Cambria Math" panose="02040503050406030204" pitchFamily="18" charset="0"/>
                              </a:rPr>
                              <m:t>)∈</m:t>
                            </m:r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𝓐</m:t>
                            </m:r>
                          </m:sub>
                          <m:sup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𝒋𝒊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𝓝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（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每个城市恰好进入一次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）</m:t>
                        </m:r>
                      </m:e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altLang="zh-CN" sz="500" b="1">
                                <a:latin typeface="Cambria Math" panose="02040503050406030204" pitchFamily="18" charset="0"/>
                              </a:rPr>
                              <m:t>:(</m:t>
                            </m:r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CN" sz="500" b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en-US" altLang="zh-CN" sz="500" b="1">
                                <a:latin typeface="Cambria Math" panose="02040503050406030204" pitchFamily="18" charset="0"/>
                              </a:rPr>
                              <m:t>)∈</m:t>
                            </m:r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𝓐</m:t>
                            </m:r>
                          </m:sub>
                          <m:sup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𝒊𝒋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𝓝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（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每个城市恰好离开一次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）</m:t>
                        </m:r>
                      </m:e>
                      <m:e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},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（</m:t>
                        </m:r>
                        <m:r>
                          <m:rPr>
                            <m:nor/>
                          </m:rPr>
                          <a:rPr lang="en-US" altLang="zh-CN" sz="500" b="1"/>
                          <m:t>MTZ</m:t>
                        </m:r>
                        <m:r>
                          <m:rPr>
                            <m:nor/>
                          </m:rPr>
                          <a:rPr lang="en-US" altLang="zh-CN" sz="500" b="1"/>
                          <m:t> 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消圈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）</m:t>
                        </m:r>
                      </m:e>
                      <m:e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},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eqArr>
                  </m:oMath>
                </a14:m>
                <a:endParaRPr lang="zh-CN" altLang="zh-CN" sz="500" b="1" dirty="0"/>
              </a:p>
              <a:p>
                <a:endParaRPr lang="zh-CN" altLang="zh-CN" sz="5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263065AE-9A9B-8966-A9C5-5C06D9760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431" y="-34290"/>
                <a:ext cx="2753469" cy="11773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593230E-8C3A-5235-EEDA-6A5AD7478BC3}"/>
                  </a:ext>
                </a:extLst>
              </p:cNvPr>
              <p:cNvSpPr txBox="1"/>
              <p:nvPr/>
            </p:nvSpPr>
            <p:spPr>
              <a:xfrm>
                <a:off x="2432409" y="1021339"/>
                <a:ext cx="2613768" cy="15536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500" b="1" dirty="0"/>
                  <a:t>5.2</a:t>
                </a:r>
                <a:r>
                  <a:rPr lang="zh-CN" altLang="zh-CN" sz="500" b="1" dirty="0"/>
                  <a:t>：</a:t>
                </a:r>
                <a:r>
                  <a:rPr lang="en-US" altLang="zh-CN" sz="500" b="1" dirty="0"/>
                  <a:t>CVRP</a:t>
                </a:r>
                <a:r>
                  <a:rPr lang="zh-CN" altLang="zh-CN" sz="500" b="1" dirty="0"/>
                  <a:t>（带容量约束的车辆路径问题，课件）</a:t>
                </a:r>
              </a:p>
              <a:p>
                <a:r>
                  <a:rPr lang="zh-CN" altLang="zh-CN" sz="500" b="1" i="1" dirty="0"/>
                  <a:t>问题描述</a:t>
                </a:r>
              </a:p>
              <a:p>
                <a:r>
                  <a:rPr lang="zh-CN" altLang="zh-CN" sz="500" dirty="0"/>
                  <a:t>在</a:t>
                </a:r>
                <a:r>
                  <a:rPr lang="en-US" altLang="zh-CN" sz="500" dirty="0"/>
                  <a:t> TSP </a:t>
                </a:r>
                <a:r>
                  <a:rPr lang="zh-CN" altLang="zh-CN" sz="500" dirty="0"/>
                  <a:t>基础上，引入车辆容量限制。有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辆同质车辆，每辆容量为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zh-CN" sz="500" dirty="0"/>
                  <a:t>。客户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的需求为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500" dirty="0"/>
                  <a:t>。从仓库（节点 </a:t>
                </a:r>
                <a:r>
                  <a:rPr lang="en-US" altLang="zh-CN" sz="500" dirty="0"/>
                  <a:t>0</a:t>
                </a:r>
                <a:r>
                  <a:rPr lang="zh-CN" altLang="zh-CN" sz="500" dirty="0"/>
                  <a:t>）出发，需要规划车辆路径，在满足容量限制的前提下服务所有客户，总行驶成本最小。</a:t>
                </a:r>
                <a:endParaRPr lang="en-US" altLang="zh-CN" sz="500" dirty="0"/>
              </a:p>
              <a:p>
                <a:r>
                  <a:rPr lang="zh-CN" altLang="zh-CN" sz="500" b="1" dirty="0"/>
                  <a:t>参数：</a:t>
                </a:r>
                <a:endParaRPr lang="zh-CN" altLang="zh-CN" sz="500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500" dirty="0"/>
                  <a:t>：客户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的需求</a:t>
                </a:r>
                <a:r>
                  <a:rPr lang="zh-CN" altLang="en-US" sz="500" dirty="0"/>
                  <a:t>；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zh-CN" sz="500" dirty="0"/>
                  <a:t>：车辆容量</a:t>
                </a:r>
                <a:r>
                  <a:rPr lang="zh-CN" altLang="en-US" sz="500" dirty="0"/>
                  <a:t>；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zh-CN" sz="500" dirty="0"/>
                  <a:t>：可用车辆数</a:t>
                </a:r>
                <a:r>
                  <a:rPr lang="zh-CN" altLang="en-US" sz="500" dirty="0"/>
                  <a:t>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zh-CN" sz="500" dirty="0"/>
                  <a:t>：弧 </a:t>
                </a:r>
                <a14:m>
                  <m:oMath xmlns:m="http://schemas.openxmlformats.org/officeDocument/2006/math">
                    <m:r>
                      <a:rPr lang="en-US" altLang="zh-CN" sz="5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的行驶成本</a:t>
                </a:r>
              </a:p>
              <a:p>
                <a:r>
                  <a:rPr lang="zh-CN" altLang="zh-CN" sz="500" b="1" dirty="0"/>
                  <a:t>决策变量：</a:t>
                </a:r>
                <a:endParaRPr lang="zh-CN" altLang="zh-CN" sz="500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zh-CN" altLang="en-US" sz="5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zh-CN" sz="500" dirty="0"/>
                  <a:t>：弧 </a:t>
                </a:r>
                <a14:m>
                  <m:oMath xmlns:m="http://schemas.openxmlformats.org/officeDocument/2006/math">
                    <m:r>
                      <a:rPr lang="en-US" altLang="zh-CN" sz="5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是否被某辆车使用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5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50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zh-CN" sz="500" dirty="0"/>
                  <a:t>：车辆到达客户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后的剩余装载量（用于消圈</a:t>
                </a:r>
                <a:r>
                  <a:rPr lang="en-US" altLang="zh-CN" sz="500" dirty="0"/>
                  <a:t>+</a:t>
                </a:r>
                <a:r>
                  <a:rPr lang="zh-CN" altLang="zh-CN" sz="500" dirty="0"/>
                  <a:t>容量）</a:t>
                </a:r>
              </a:p>
              <a:p>
                <a:r>
                  <a:rPr lang="zh-CN" altLang="zh-CN" sz="500" b="1" dirty="0"/>
                  <a:t>目标函数：</a:t>
                </a:r>
                <a14:m>
                  <m:oMath xmlns:m="http://schemas.openxmlformats.org/officeDocument/2006/math">
                    <m:r>
                      <a:rPr lang="en-US" altLang="zh-CN" sz="500" b="1" i="1">
                        <a:latin typeface="Cambria Math" panose="02040503050406030204" pitchFamily="18" charset="0"/>
                      </a:rPr>
                      <m:t>𝐦𝐢𝐧</m:t>
                    </m:r>
                    <m:r>
                      <a:rPr lang="zh-CN" altLang="en-US" sz="500" b="1" i="1">
                        <a:latin typeface="Cambria Math" panose="02040503050406030204" pitchFamily="18" charset="0"/>
                      </a:rPr>
                      <m:t> 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en-US" sz="5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)∈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𝓐</m:t>
                        </m:r>
                      </m:sub>
                      <m:sup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en-US" sz="5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</m:oMath>
                </a14:m>
                <a:endParaRPr lang="zh-CN" altLang="zh-CN" sz="500" b="1" dirty="0"/>
              </a:p>
              <a:p>
                <a:r>
                  <a:rPr lang="zh-CN" altLang="zh-CN" sz="500" b="1" dirty="0"/>
                  <a:t>约束条件：</a:t>
                </a:r>
                <a14:m>
                  <m:oMath xmlns:m="http://schemas.openxmlformats.org/officeDocument/2006/math">
                    <m:eqArr>
                      <m:eqArrPr>
                        <m:ctrlPr>
                          <a:rPr lang="zh-CN" altLang="en-US" sz="500" b="1" i="1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zh-CN" altLang="en-US" sz="500" b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𝓝</m:t>
                            </m:r>
                          </m:sub>
                          <m:sup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𝒊𝒋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zh-CN" altLang="en-US" sz="500" b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𝓝</m:t>
                            </m:r>
                          </m:sub>
                          <m:sup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𝒋𝒊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𝓝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sub>
                        </m:sSub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（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每个客户恰好被访问一次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）</m:t>
                        </m:r>
                      </m:e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  <m:r>
                              <a:rPr lang="zh-CN" altLang="en-US" sz="500" b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𝓝</m:t>
                            </m:r>
                          </m:sub>
                          <m:sup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500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（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从仓库出发的车辆数不超过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）</m:t>
                        </m:r>
                      </m:e>
                      <m:e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𝓝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sub>
                        </m:sSub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（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容量</m:t>
                        </m:r>
                        <m:r>
                          <m:rPr>
                            <m:nor/>
                          </m:rPr>
                          <a:rPr lang="en-US" altLang="zh-CN" sz="500" b="1"/>
                          <m:t>+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消圈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）</m:t>
                        </m:r>
                      </m:e>
                      <m:e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𝑸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𝓝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eqArr>
                  </m:oMath>
                </a14:m>
                <a:endParaRPr lang="zh-CN" altLang="zh-CN" sz="500" b="1" dirty="0"/>
              </a:p>
              <a:p>
                <a:r>
                  <a:rPr lang="zh-CN" altLang="zh-CN" sz="500" dirty="0"/>
                  <a:t>注：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同时承担了</a:t>
                </a:r>
                <a:r>
                  <a:rPr lang="en-US" altLang="zh-CN" sz="500" dirty="0"/>
                  <a:t> MTZ </a:t>
                </a:r>
                <a:r>
                  <a:rPr lang="zh-CN" altLang="zh-CN" sz="500" dirty="0"/>
                  <a:t>消圈和车辆容量限制两个功能。</a:t>
                </a:r>
              </a:p>
              <a:p>
                <a:endParaRPr lang="zh-CN" altLang="zh-CN" sz="5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8593230E-8C3A-5235-EEDA-6A5AD7478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409" y="1021339"/>
                <a:ext cx="2613768" cy="15536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本框 28">
            <a:extLst>
              <a:ext uri="{FF2B5EF4-FFF2-40B4-BE49-F238E27FC236}">
                <a16:creationId xmlns:a16="http://schemas.microsoft.com/office/drawing/2014/main" id="{BA7D1399-0077-DA4E-D5E4-9F74E23714B8}"/>
              </a:ext>
            </a:extLst>
          </p:cNvPr>
          <p:cNvSpPr txBox="1"/>
          <p:nvPr/>
        </p:nvSpPr>
        <p:spPr>
          <a:xfrm>
            <a:off x="4952998" y="2633722"/>
            <a:ext cx="2499259" cy="4261167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square" rtlCol="0">
            <a:spAutoFit/>
          </a:bodyPr>
          <a:lstStyle/>
          <a:p>
            <a:pPr latinLnBrk="1">
              <a:spcAft>
                <a:spcPts val="1000"/>
              </a:spcAft>
              <a:buNone/>
            </a:pPr>
            <a:r>
              <a:rPr lang="en-US" altLang="zh-CN" sz="43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numpy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np </a:t>
            </a:r>
            <a:r>
              <a:rPr lang="en-US" altLang="zh-CN" sz="430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###5.2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gurobipy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数据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=====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客户数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Q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50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车辆容量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m_vehicles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可用车辆数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np.random.seed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42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np.random.randint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(n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))  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节点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0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是仓库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q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np.random.randint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20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n)            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客户需求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c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{(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j):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np.linalg.norm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(loc[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loc[j])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!=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j}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list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(n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[(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j)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!=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j]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Nc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list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))  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客户节点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模型建立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=====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gp.Model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3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cvrp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model.addVars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(A,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vtype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gp.GRB.BINARY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name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'x'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u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model.addVars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(Nc,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ub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Q, name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'u'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model.setObjective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gp.quicksum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(c[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A),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gp.GRB.MINIMIZE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流守恒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model.addConstrs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gp.quicksum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(x[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!=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Nc), name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'outflow'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model.addConstrs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gp.quicksum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(x[j,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!=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Nc), name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'inflow'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从仓库出发的车辆数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model.addConstr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gp.quicksum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(x[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Nc)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m_vehicles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name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'vehicles'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容量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+ MTZ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消圈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model.addConstrs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(u[j]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u[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Q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j])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q[j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Nc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Nc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!=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j),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name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3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capacity_mtz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初始装载量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model.addConstrs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((u[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q[i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Nc), name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3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u_lb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model.params.TimeLimit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30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model.optimize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输出结果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model.status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!=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gp.GRB.INFEASIBLE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3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</a:t>
            </a:r>
            <a:r>
              <a:rPr lang="zh-CN" altLang="zh-CN" sz="43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最优总距离</a:t>
            </a:r>
            <a:r>
              <a:rPr lang="en-US" altLang="zh-CN" sz="43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ObjVal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:.2f}</a:t>
            </a:r>
            <a:r>
              <a:rPr lang="en-US" altLang="zh-CN" sz="43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routes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[(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j)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A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j].X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0.9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3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</a:t>
            </a:r>
            <a:r>
              <a:rPr lang="zh-CN" altLang="zh-CN" sz="43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使用弧数</a:t>
            </a:r>
            <a:r>
              <a:rPr lang="en-US" altLang="zh-CN" sz="43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43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len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(routes)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43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3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按路径分组输出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3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from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collections </a:t>
            </a:r>
            <a:r>
              <a:rPr lang="en-US" altLang="zh-CN" sz="43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defaultdict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out_edges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defaultdict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list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routes: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out_edges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].append(j)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3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zh-CN" altLang="zh-CN" sz="43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各路径：</a:t>
            </a:r>
            <a:r>
              <a:rPr lang="en-US" altLang="zh-CN" sz="430" b="1" dirty="0">
                <a:solidFill>
                  <a:srgbClr val="FF0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start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out_edges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]: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route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[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start]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cur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start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43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cur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!=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cur </a:t>
            </a:r>
            <a:r>
              <a:rPr lang="en-US" altLang="zh-CN" sz="43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out_edges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[cur][</a:t>
            </a:r>
            <a:r>
              <a:rPr lang="en-US" altLang="zh-CN" sz="43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43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route.append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(cur)</a:t>
            </a:r>
            <a:b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43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  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{' → '.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join(</a:t>
            </a:r>
            <a:r>
              <a:rPr lang="en-US" altLang="zh-CN" sz="43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map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3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str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route))</a:t>
            </a:r>
            <a:r>
              <a:rPr lang="en-US" altLang="zh-CN" sz="43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43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43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430" dirty="0">
              <a:effectLst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25F7D9C-4D9D-3639-FDCD-3FE0B38FB4C7}"/>
              </a:ext>
            </a:extLst>
          </p:cNvPr>
          <p:cNvCxnSpPr>
            <a:cxnSpLocks/>
          </p:cNvCxnSpPr>
          <p:nvPr/>
        </p:nvCxnSpPr>
        <p:spPr>
          <a:xfrm>
            <a:off x="2479472" y="1040391"/>
            <a:ext cx="24794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DCF4C9C-47B1-94CB-5FBB-22F36FD8965D}"/>
              </a:ext>
            </a:extLst>
          </p:cNvPr>
          <p:cNvCxnSpPr>
            <a:cxnSpLocks/>
          </p:cNvCxnSpPr>
          <p:nvPr/>
        </p:nvCxnSpPr>
        <p:spPr>
          <a:xfrm>
            <a:off x="4952998" y="2667121"/>
            <a:ext cx="24794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CA5E98D-3316-B865-C919-73E31BDB9C72}"/>
                  </a:ext>
                </a:extLst>
              </p:cNvPr>
              <p:cNvSpPr txBox="1"/>
              <p:nvPr/>
            </p:nvSpPr>
            <p:spPr>
              <a:xfrm>
                <a:off x="2432409" y="2429680"/>
                <a:ext cx="2613768" cy="1887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500" b="1" dirty="0"/>
                  <a:t>5.3</a:t>
                </a:r>
                <a:r>
                  <a:rPr lang="zh-CN" altLang="zh-CN" sz="500" b="1" dirty="0"/>
                  <a:t>：</a:t>
                </a:r>
                <a:r>
                  <a:rPr lang="en-US" altLang="zh-CN" sz="500" b="1" dirty="0"/>
                  <a:t>Orienteering Problem</a:t>
                </a:r>
                <a:r>
                  <a:rPr lang="zh-CN" altLang="zh-CN" sz="500" b="1" dirty="0"/>
                  <a:t>（定向问题，作业）</a:t>
                </a:r>
              </a:p>
              <a:p>
                <a:r>
                  <a:rPr lang="zh-CN" altLang="zh-CN" sz="500" b="1" i="1" dirty="0"/>
                  <a:t>问题描述</a:t>
                </a:r>
              </a:p>
              <a:p>
                <a:r>
                  <a:rPr lang="en-US" altLang="zh-CN" sz="500" dirty="0"/>
                  <a:t>TSP </a:t>
                </a:r>
                <a:r>
                  <a:rPr lang="zh-CN" altLang="zh-CN" sz="500" dirty="0"/>
                  <a:t>的变种：：给定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个节点，每个节点有得分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500" dirty="0"/>
                  <a:t>，从节点 </a:t>
                </a:r>
                <a:r>
                  <a:rPr lang="en-US" altLang="zh-CN" sz="500" dirty="0"/>
                  <a:t>0</a:t>
                </a:r>
                <a:r>
                  <a:rPr lang="zh-CN" altLang="zh-CN" sz="500" dirty="0"/>
                  <a:t>（仓库）出发并返回节点 </a:t>
                </a:r>
                <a:r>
                  <a:rPr lang="en-US" altLang="zh-CN" sz="500" dirty="0"/>
                  <a:t>0</a:t>
                </a:r>
                <a:r>
                  <a:rPr lang="zh-CN" altLang="zh-CN" sz="500" dirty="0"/>
                  <a:t>。每段弧 </a:t>
                </a:r>
                <a14:m>
                  <m:oMath xmlns:m="http://schemas.openxmlformats.org/officeDocument/2006/math">
                    <m:r>
                      <a:rPr lang="en-US" altLang="zh-CN" sz="500">
                        <a:latin typeface="Cambria Math" panose="02040503050406030204" pitchFamily="18" charset="0"/>
                      </a:rPr>
                      <m:t>(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有旅行时间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zh-CN" sz="500" dirty="0"/>
                  <a:t>，总旅行时间不能超过预算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zh-CN" sz="500" dirty="0"/>
                  <a:t>。不需要访问所有节点，目标是选择一部分节点访问并确定访问顺序，使得</a:t>
                </a:r>
                <a:r>
                  <a:rPr lang="zh-CN" altLang="zh-CN" sz="500" b="1" dirty="0"/>
                  <a:t>收集的总得分最大</a:t>
                </a:r>
                <a:r>
                  <a:rPr lang="zh-CN" altLang="zh-CN" sz="500" dirty="0"/>
                  <a:t>。</a:t>
                </a:r>
                <a:endParaRPr lang="en-US" altLang="zh-CN" sz="500" dirty="0"/>
              </a:p>
              <a:p>
                <a:r>
                  <a:rPr lang="zh-CN" altLang="zh-CN" sz="500" b="1" dirty="0"/>
                  <a:t>参数：</a:t>
                </a:r>
                <a:endParaRPr lang="zh-CN" altLang="zh-CN" sz="500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500" dirty="0"/>
                  <a:t>：节点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的得分</a:t>
                </a:r>
                <a:r>
                  <a:rPr lang="en-US" altLang="zh-CN" sz="50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zh-CN" sz="500" dirty="0"/>
                  <a:t>：从节点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到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的旅行时间</a:t>
                </a:r>
                <a:r>
                  <a:rPr lang="en-US" altLang="zh-CN" sz="500" dirty="0"/>
                  <a:t>;</a:t>
                </a:r>
                <a14:m>
                  <m:oMath xmlns:m="http://schemas.openxmlformats.org/officeDocument/2006/math">
                    <m:r>
                      <a:rPr lang="en-US" altLang="zh-CN" sz="5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zh-CN" altLang="zh-CN" sz="500" dirty="0"/>
                  <a:t>：时间预算</a:t>
                </a:r>
                <a:r>
                  <a:rPr lang="en-US" altLang="zh-CN" sz="500" dirty="0"/>
                  <a:t>;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sz="500" dirty="0"/>
                  <a:t>：节点总数</a:t>
                </a:r>
              </a:p>
              <a:p>
                <a:r>
                  <a:rPr lang="zh-CN" altLang="zh-CN" sz="500" b="1" dirty="0"/>
                  <a:t>决策变量：</a:t>
                </a:r>
                <a:endParaRPr lang="zh-CN" altLang="zh-CN" sz="500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zh-CN" altLang="en-US" sz="5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zh-CN" sz="500" dirty="0"/>
                  <a:t>：是否从节点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直接走到节点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zh-CN" altLang="zh-CN" sz="500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5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zh-CN" sz="500" dirty="0"/>
                  <a:t>：是否访问节点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zh-CN" altLang="zh-CN" sz="500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5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en-US" sz="5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zh-CN" sz="500" dirty="0"/>
                  <a:t>：节点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的访问顺序（</a:t>
                </a:r>
                <a:r>
                  <a:rPr lang="en-US" altLang="zh-CN" sz="500" dirty="0"/>
                  <a:t>MTZ </a:t>
                </a:r>
                <a:r>
                  <a:rPr lang="zh-CN" altLang="zh-CN" sz="500" dirty="0"/>
                  <a:t>辅助变量）</a:t>
                </a:r>
              </a:p>
              <a:p>
                <a:r>
                  <a:rPr lang="zh-CN" altLang="zh-CN" sz="500" b="1" dirty="0"/>
                  <a:t>目标函数：</a:t>
                </a:r>
                <a14:m>
                  <m:oMath xmlns:m="http://schemas.openxmlformats.org/officeDocument/2006/math">
                    <m:r>
                      <a:rPr lang="en-US" altLang="zh-CN" sz="500" b="1" i="1">
                        <a:latin typeface="Cambria Math" panose="02040503050406030204" pitchFamily="18" charset="0"/>
                      </a:rPr>
                      <m:t>𝐦𝐚𝐱</m:t>
                    </m:r>
                    <m:r>
                      <a:rPr lang="zh-CN" altLang="en-US" sz="500" b="1" i="1">
                        <a:latin typeface="Cambria Math" panose="02040503050406030204" pitchFamily="18" charset="0"/>
                      </a:rPr>
                      <m:t> </m:t>
                    </m:r>
                    <m:nary>
                      <m:naryPr>
                        <m:chr m:val="∑"/>
                        <m:limLoc m:val="undOvr"/>
                        <m:ctrlPr>
                          <a:rPr lang="zh-CN" altLang="en-US" sz="5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  <m:e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𝒔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zh-CN" altLang="en-US" sz="5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zh-CN" altLang="zh-CN" sz="500" b="1" dirty="0"/>
              </a:p>
              <a:p>
                <a:r>
                  <a:rPr lang="zh-CN" altLang="zh-CN" sz="500" b="1" dirty="0"/>
                  <a:t>约束条件：</a:t>
                </a:r>
                <a14:m>
                  <m:oMath xmlns:m="http://schemas.openxmlformats.org/officeDocument/2006/math">
                    <m:eqArr>
                      <m:eqArrPr>
                        <m:ctrlPr>
                          <a:rPr lang="zh-CN" altLang="en-US" sz="500" b="1" i="1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5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（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必须从节点 </m:t>
                        </m:r>
                        <m:r>
                          <m:rPr>
                            <m:nor/>
                          </m:rPr>
                          <a:rPr lang="en-US" altLang="zh-CN" sz="500" b="1"/>
                          <m:t>0 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出发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）</m:t>
                        </m:r>
                      </m:e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  <m:sup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𝒋𝒊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  <m:sup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𝒊𝒋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𝓝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（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流守恒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）</m:t>
                        </m:r>
                      </m:e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CN" sz="500" b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  <m:sup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  <m:sub>
                                <m:r>
                                  <a:rPr lang="zh-CN" altLang="en-US" sz="500" b="1" i="1">
                                    <a:latin typeface="Cambria Math" panose="02040503050406030204" pitchFamily="18" charset="0"/>
                                  </a:rPr>
                                  <m:t>𝒊𝒋</m:t>
                                </m:r>
                              </m:sub>
                            </m:sSub>
                          </m:e>
                        </m:nary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（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时间预算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）</m:t>
                        </m:r>
                      </m:e>
                      <m:e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)⇒(</m:t>
                        </m:r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),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},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（</m:t>
                        </m:r>
                        <m:r>
                          <m:rPr>
                            <m:nor/>
                          </m:rPr>
                          <a:rPr lang="en-US" altLang="zh-CN" sz="500" b="1"/>
                          <m:t>MTZ</m:t>
                        </m:r>
                        <m:r>
                          <m:rPr>
                            <m:nor/>
                          </m:rPr>
                          <a:rPr lang="en-US" altLang="zh-CN" sz="500" b="1"/>
                          <m:t> 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消圈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）</m:t>
                        </m:r>
                      </m:e>
                      <m:e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（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 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与 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 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关联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，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未访问节点 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m:rPr>
                            <m:nor/>
                          </m:rPr>
                          <a:rPr lang="zh-CN" altLang="en-US" sz="500" b="1"/>
                          <m:t>）</m:t>
                        </m:r>
                      </m:e>
                      <m:e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∀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e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&amp;</m:t>
                        </m:r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},</m:t>
                        </m:r>
                        <m:r>
                          <a:rPr lang="zh-CN" altLang="en-US" sz="500" b="1" i="1">
                            <a:latin typeface="Cambria Math" panose="02040503050406030204" pitchFamily="18" charset="0"/>
                          </a:rPr>
                          <m:t> </m:t>
                        </m:r>
                        <m:sSub>
                          <m:sSubPr>
                            <m:ctrlP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zh-CN" altLang="en-US" sz="5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zh-CN" altLang="en-US" sz="500" b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5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500" b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eqArr>
                  </m:oMath>
                </a14:m>
                <a:endParaRPr lang="zh-CN" altLang="zh-CN" sz="500" b="1" dirty="0"/>
              </a:p>
              <a:p>
                <a:endParaRPr lang="zh-CN" altLang="zh-CN" sz="500" dirty="0"/>
              </a:p>
              <a:p>
                <a:endParaRPr lang="zh-CN" altLang="zh-CN" sz="5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0CA5E98D-3316-B865-C919-73E31BDB9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409" y="2429680"/>
                <a:ext cx="2613768" cy="1887633"/>
              </a:xfrm>
              <a:prstGeom prst="rect">
                <a:avLst/>
              </a:prstGeom>
              <a:blipFill>
                <a:blip r:embed="rId4"/>
                <a:stretch>
                  <a:fillRect r="-6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32">
            <a:extLst>
              <a:ext uri="{FF2B5EF4-FFF2-40B4-BE49-F238E27FC236}">
                <a16:creationId xmlns:a16="http://schemas.microsoft.com/office/drawing/2014/main" id="{ABB2B53A-5140-02A1-1136-BA367FE4B70D}"/>
              </a:ext>
            </a:extLst>
          </p:cNvPr>
          <p:cNvSpPr txBox="1"/>
          <p:nvPr/>
        </p:nvSpPr>
        <p:spPr>
          <a:xfrm>
            <a:off x="7400925" y="13296"/>
            <a:ext cx="2499259" cy="403187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square" rtlCol="0">
            <a:spAutoFit/>
          </a:bodyPr>
          <a:lstStyle/>
          <a:p>
            <a:pPr latinLnBrk="1">
              <a:spcAft>
                <a:spcPts val="1000"/>
              </a:spcAft>
              <a:buNone/>
            </a:pPr>
            <a:r>
              <a:rPr lang="en-US" altLang="zh-CN" sz="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numpy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np  </a:t>
            </a:r>
            <a:r>
              <a:rPr lang="en-US" altLang="zh-CN" sz="400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###5.3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matplotlib.pyplot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plt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gurobipy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数据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=====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方式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：直接导入（若在同一目录）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exec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open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'op_random_instance.py'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).read())  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执行该文件，把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n/</a:t>
            </a:r>
            <a:r>
              <a:rPr lang="en-US" altLang="zh-CN" sz="400" i="1" dirty="0" err="1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loc_x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400" i="1" dirty="0" err="1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loc_y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/s/c/T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等变量读入当前环境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list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(n))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[(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j)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!=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j]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模型建立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=====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gp.Model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'op'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m.addVars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(A,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vtype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gp.GRB.BINARY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name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'x'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  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弧是否被使用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y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m.addVars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(N,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vtype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gp.GRB.BINARY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name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'y'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   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节点是否被访问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u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m.addVars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(N,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ub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name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'u'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          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MTZ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顺序变量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目标：最大化总得分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m.setObjective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gp.quicksum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(s[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y[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N),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gp.GRB.MAXIMIZE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约束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：必须经过起点（节点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0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m.addConstr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(y[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name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visit_depot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约束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：流守恒（入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出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i="1" dirty="0" err="1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y_i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m.addConstrs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x.</a:t>
            </a:r>
            <a:r>
              <a:rPr lang="en-US" altLang="zh-CN" sz="4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sum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'*'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y[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N), name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'inflow'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m.addConstrs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x.</a:t>
            </a:r>
            <a:r>
              <a:rPr lang="en-US" altLang="zh-CN" sz="400" dirty="0" err="1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sum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'*'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y[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N), name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'outflow'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约束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：时间预算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m.addConstr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gp.quicksum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(c[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A)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T, name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time_budget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约束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MTZ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消圈（仅非仓库节点）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m.addConstrs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((x[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&gt;&gt;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(u[j]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u[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n)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n)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!=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j),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name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mtz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约束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u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y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挂钩（未访问节点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u=0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，访问节点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u&gt;=1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m.addConstrs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((u[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(n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y[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n)), name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u_link_y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m.addConstrs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((u[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y[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n)), name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u_lb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求解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=====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m.params.timelimit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30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m.optimize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结果输出与可视化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=====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m.status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gp.GRB.OPTIMAL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m.status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gp.GRB.TIME_LIMIT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visited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y[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].x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0.9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selected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[(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j)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A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j].x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0.9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total_score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sum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(s[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visited)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total_time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sum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(c[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selected)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f"Visited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nodes: 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visited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f"Total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collected score: 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total_score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f"Total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travel time: 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total_time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:.2f}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/ 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4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绘图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plt.figure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figsize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plt.scatter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loc_x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loc_y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c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lightgray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s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100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zorder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label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'Unvisited'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plt.scatter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loc_x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[visited],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loc_y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[visited], c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'red'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s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200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zorder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label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'Visited'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N: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color 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'red'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visited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'gray'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plt.annotate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f'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}\n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(s=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loc_x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loc_y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]),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        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textcoords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"offset points"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xytext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),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         ha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'center'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fontsize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color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color)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j) </a:t>
            </a:r>
            <a:r>
              <a:rPr lang="en-US" altLang="zh-CN" sz="4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selected: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plt.plot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loc_x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loc_x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[j]), (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loc_y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loc_y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[j]),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         c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'blue'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linewidth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zorder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plt.title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 err="1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f'Orienteering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Problem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\</a:t>
            </a:r>
            <a:r>
              <a:rPr lang="en-US" altLang="zh-CN" sz="4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400" dirty="0" err="1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Score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total_score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Time: 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total_time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:.2f}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4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plt.legend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plt.savefig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4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'op_tour.png'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dpi</a:t>
            </a:r>
            <a:r>
              <a:rPr lang="en-US" altLang="zh-CN" sz="4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4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300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4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plt.show</a:t>
            </a:r>
            <a:r>
              <a:rPr lang="en-US" altLang="zh-CN" sz="4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400" dirty="0">
              <a:effectLst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28DE94EA-6171-2721-69F0-4EB07611A075}"/>
              </a:ext>
            </a:extLst>
          </p:cNvPr>
          <p:cNvCxnSpPr>
            <a:cxnSpLocks/>
          </p:cNvCxnSpPr>
          <p:nvPr/>
        </p:nvCxnSpPr>
        <p:spPr>
          <a:xfrm>
            <a:off x="2479472" y="2457571"/>
            <a:ext cx="24794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EE61687-2D24-7E54-166B-A99ACB33BFE0}"/>
                  </a:ext>
                </a:extLst>
              </p:cNvPr>
              <p:cNvSpPr txBox="1"/>
              <p:nvPr/>
            </p:nvSpPr>
            <p:spPr>
              <a:xfrm>
                <a:off x="2432409" y="4192809"/>
                <a:ext cx="2613768" cy="13256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500" b="1" dirty="0"/>
                  <a:t>7.1</a:t>
                </a:r>
                <a:r>
                  <a:rPr lang="zh-CN" altLang="zh-CN" sz="500" b="1" dirty="0"/>
                  <a:t>：矩阵博弈与最优纯策略</a:t>
                </a:r>
              </a:p>
              <a:p>
                <a:r>
                  <a:rPr lang="zh-CN" altLang="zh-CN" sz="500" b="1" i="1" dirty="0"/>
                  <a:t>问题描述</a:t>
                </a:r>
              </a:p>
              <a:p>
                <a:r>
                  <a:rPr lang="zh-CN" altLang="zh-CN" sz="500" dirty="0"/>
                  <a:t>二人有限零和博弈：局中人甲和乙各有有限个策略，同一局势下两人损益之和为零。给定甲的赢得矩阵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50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5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50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zh-CN" sz="500" dirty="0"/>
                  <a:t>，求双方最优策略。</a:t>
                </a:r>
              </a:p>
              <a:p>
                <a:r>
                  <a:rPr lang="zh-CN" altLang="zh-CN" sz="500" b="1" dirty="0"/>
                  <a:t>前提假设：</a:t>
                </a:r>
                <a:r>
                  <a:rPr lang="zh-CN" altLang="zh-CN" sz="500" dirty="0"/>
                  <a:t> 双方都是理性的，都从各自最不利情形中选择最有利情形。</a:t>
                </a:r>
                <a:endParaRPr lang="en-US" altLang="zh-CN" sz="500" dirty="0"/>
              </a:p>
              <a:p>
                <a:r>
                  <a:rPr lang="zh-CN" altLang="zh-CN" sz="500" dirty="0"/>
                  <a:t>若满足：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zh-CN" altLang="en-US" sz="5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5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𝑖</m:t>
                          </m:r>
                        </m:lim>
                      </m:limLow>
                      <m:limLow>
                        <m:limLowPr>
                          <m:ctrlPr>
                            <a:rPr lang="zh-CN" altLang="en-US" sz="5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50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𝑗</m:t>
                          </m:r>
                        </m:lim>
                      </m:limLow>
                      <m:sSub>
                        <m:sSubPr>
                          <m:ctrlPr>
                            <a:rPr lang="zh-CN" altLang="en-US" sz="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sz="50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CN" altLang="en-US" sz="5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50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𝑗</m:t>
                          </m:r>
                        </m:lim>
                      </m:limLow>
                      <m:limLow>
                        <m:limLowPr>
                          <m:ctrlPr>
                            <a:rPr lang="zh-CN" altLang="en-US" sz="5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50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𝑖</m:t>
                          </m:r>
                        </m:lim>
                      </m:limLow>
                      <m:sSub>
                        <m:sSubPr>
                          <m:ctrlPr>
                            <a:rPr lang="zh-CN" altLang="en-US" sz="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sz="5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CN" sz="5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500" i="1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CN" altLang="zh-CN" sz="500" dirty="0"/>
              </a:p>
              <a:p>
                <a:r>
                  <a:rPr lang="zh-CN" altLang="zh-CN" sz="500" dirty="0"/>
                  <a:t>则称博弈存在</a:t>
                </a:r>
                <a:r>
                  <a:rPr lang="zh-CN" altLang="zh-CN" sz="500" b="1" dirty="0"/>
                  <a:t>鞍点（</a:t>
                </a:r>
                <a:r>
                  <a:rPr lang="en-US" altLang="zh-CN" sz="500" b="1" dirty="0"/>
                  <a:t>saddle point</a:t>
                </a:r>
                <a:r>
                  <a:rPr lang="zh-CN" altLang="zh-CN" sz="500" b="1" dirty="0"/>
                  <a:t>）</a:t>
                </a:r>
                <a:r>
                  <a:rPr lang="zh-CN" altLang="zh-CN" sz="500" dirty="0"/>
                  <a:t>，对应的策略为</a:t>
                </a:r>
                <a:r>
                  <a:rPr lang="zh-CN" altLang="zh-CN" sz="500" b="1" dirty="0"/>
                  <a:t>最优纯策略</a:t>
                </a:r>
                <a:r>
                  <a:rPr lang="zh-CN" altLang="zh-CN" sz="500" dirty="0"/>
                  <a:t>，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为博弈的值。</a:t>
                </a:r>
                <a:endParaRPr lang="en-US" altLang="zh-CN" sz="500" dirty="0"/>
              </a:p>
              <a:p>
                <a:pPr lvl="0"/>
                <a:r>
                  <a:rPr lang="en-US" altLang="zh-CN" sz="500" dirty="0"/>
                  <a:t>1</a:t>
                </a:r>
                <a:r>
                  <a:rPr lang="zh-CN" altLang="en-US" sz="500" dirty="0"/>
                  <a:t>、</a:t>
                </a:r>
                <a:r>
                  <a:rPr lang="zh-CN" altLang="zh-CN" sz="500" dirty="0"/>
                  <a:t>对矩阵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的每一行求最小值（甲的最不利情形）</a:t>
                </a:r>
              </a:p>
              <a:p>
                <a:pPr lvl="0"/>
                <a:r>
                  <a:rPr lang="en-US" altLang="zh-CN" sz="500" dirty="0"/>
                  <a:t>2</a:t>
                </a:r>
                <a:r>
                  <a:rPr lang="zh-CN" altLang="en-US" sz="500" dirty="0"/>
                  <a:t>、</a:t>
                </a:r>
                <a:r>
                  <a:rPr lang="zh-CN" altLang="zh-CN" sz="500" dirty="0"/>
                  <a:t>在这些行最小值中取最大者：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bar>
                    <m:r>
                      <a:rPr lang="en-US" altLang="zh-CN" sz="5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50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5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zh-CN" sz="500" dirty="0"/>
                  <a:t>（甲的 </a:t>
                </a:r>
                <a:r>
                  <a:rPr lang="en-US" altLang="zh-CN" sz="500" dirty="0"/>
                  <a:t>max-min</a:t>
                </a:r>
                <a:r>
                  <a:rPr lang="zh-CN" altLang="zh-CN" sz="500" dirty="0"/>
                  <a:t>）</a:t>
                </a:r>
              </a:p>
              <a:p>
                <a:pPr lvl="0"/>
                <a:r>
                  <a:rPr lang="en-US" altLang="zh-CN" sz="500" dirty="0"/>
                  <a:t>3</a:t>
                </a:r>
                <a:r>
                  <a:rPr lang="zh-CN" altLang="en-US" sz="500" dirty="0"/>
                  <a:t>、</a:t>
                </a:r>
                <a:r>
                  <a:rPr lang="zh-CN" altLang="zh-CN" sz="500" dirty="0"/>
                  <a:t>对矩阵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的每一列求最大值（乙的最不利情形）</a:t>
                </a:r>
              </a:p>
              <a:p>
                <a:pPr lvl="0"/>
                <a:r>
                  <a:rPr lang="en-US" altLang="zh-CN" sz="500" dirty="0"/>
                  <a:t>4</a:t>
                </a:r>
                <a:r>
                  <a:rPr lang="zh-CN" altLang="en-US" sz="500" dirty="0"/>
                  <a:t>、</a:t>
                </a:r>
                <a:r>
                  <a:rPr lang="zh-CN" altLang="zh-CN" sz="500" dirty="0"/>
                  <a:t>在这些列最大值中取最小者：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bar>
                    <m:r>
                      <a:rPr lang="en-US" altLang="zh-CN" sz="5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5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50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zh-CN" sz="500" dirty="0"/>
                  <a:t>（乙的 </a:t>
                </a:r>
                <a:r>
                  <a:rPr lang="en-US" altLang="zh-CN" sz="500" dirty="0"/>
                  <a:t>min-max</a:t>
                </a:r>
                <a:r>
                  <a:rPr lang="zh-CN" altLang="zh-CN" sz="500" dirty="0"/>
                  <a:t>）</a:t>
                </a:r>
              </a:p>
              <a:p>
                <a:pPr lvl="0"/>
                <a:r>
                  <a:rPr lang="en-US" altLang="zh-CN" sz="500" dirty="0"/>
                  <a:t>5</a:t>
                </a:r>
                <a:r>
                  <a:rPr lang="zh-CN" altLang="en-US" sz="500" dirty="0"/>
                  <a:t>、</a:t>
                </a:r>
                <a:r>
                  <a:rPr lang="zh-CN" altLang="zh-CN" sz="500" dirty="0"/>
                  <a:t>若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bar>
                    <m:r>
                      <a:rPr lang="en-US" altLang="zh-CN" sz="500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pos m:val="top"/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bar>
                  </m:oMath>
                </a14:m>
                <a:r>
                  <a:rPr lang="zh-CN" altLang="zh-CN" sz="500" dirty="0"/>
                  <a:t>，则存在纯策略解</a:t>
                </a:r>
              </a:p>
              <a:p>
                <a:endParaRPr lang="zh-CN" altLang="zh-CN" sz="500" dirty="0"/>
              </a:p>
              <a:p>
                <a:endParaRPr lang="zh-CN" altLang="zh-CN" sz="500" dirty="0"/>
              </a:p>
            </p:txBody>
          </p:sp>
        </mc:Choice>
        <mc:Fallback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EE61687-2D24-7E54-166B-A99ACB33B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2409" y="4192809"/>
                <a:ext cx="2613768" cy="13256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4288EFD-41BD-41EC-FF76-13CBC1828185}"/>
              </a:ext>
            </a:extLst>
          </p:cNvPr>
          <p:cNvCxnSpPr>
            <a:cxnSpLocks/>
          </p:cNvCxnSpPr>
          <p:nvPr/>
        </p:nvCxnSpPr>
        <p:spPr>
          <a:xfrm>
            <a:off x="2473525" y="4190703"/>
            <a:ext cx="24794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4F880BF-E114-97FB-47AA-8D9DB69BAADA}"/>
                  </a:ext>
                </a:extLst>
              </p:cNvPr>
              <p:cNvSpPr txBox="1"/>
              <p:nvPr/>
            </p:nvSpPr>
            <p:spPr>
              <a:xfrm>
                <a:off x="2453743" y="5298518"/>
                <a:ext cx="2613768" cy="16636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500" b="1" dirty="0"/>
                  <a:t>7.2</a:t>
                </a:r>
                <a:r>
                  <a:rPr lang="zh-CN" altLang="zh-CN" sz="500" b="1" dirty="0"/>
                  <a:t>：矩阵博弈的混合策略（课件）</a:t>
                </a:r>
              </a:p>
              <a:p>
                <a:r>
                  <a:rPr lang="zh-CN" altLang="zh-CN" sz="500" dirty="0"/>
                  <a:t>当纯策略解不存在（即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50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5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zh-CN" altLang="en-US" sz="50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500"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500"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zh-CN" altLang="zh-CN" sz="500" dirty="0"/>
                  <a:t>）时，双方以一定概率随机选择策略，称为</a:t>
                </a:r>
                <a:r>
                  <a:rPr lang="zh-CN" altLang="zh-CN" sz="500" b="1" dirty="0"/>
                  <a:t>混合策略</a:t>
                </a:r>
                <a:r>
                  <a:rPr lang="zh-CN" altLang="zh-CN" sz="500" dirty="0"/>
                  <a:t>。求最优混合策略等价于求解一个线性规划问题。</a:t>
                </a:r>
              </a:p>
              <a:p>
                <a:r>
                  <a:rPr lang="zh-CN" altLang="zh-CN" sz="500" b="1" i="1" dirty="0"/>
                  <a:t>数学建模（</a:t>
                </a:r>
                <a:r>
                  <a:rPr lang="en-US" altLang="zh-CN" sz="500" b="1" i="1" dirty="0"/>
                  <a:t>LP </a:t>
                </a:r>
                <a:r>
                  <a:rPr lang="zh-CN" altLang="zh-CN" sz="500" b="1" i="1" dirty="0"/>
                  <a:t>方法）</a:t>
                </a:r>
              </a:p>
              <a:p>
                <a:r>
                  <a:rPr lang="zh-CN" altLang="zh-CN" sz="500" dirty="0"/>
                  <a:t>设甲有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个策略，乙有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个策略。甲选择策略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的概率为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500" dirty="0"/>
                  <a:t>，乙选择策略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的概率为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zh-CN" sz="500" dirty="0"/>
                  <a:t>。</a:t>
                </a:r>
                <a:br>
                  <a:rPr lang="en-US" altLang="zh-CN" sz="500" dirty="0"/>
                </a:br>
                <a:r>
                  <a:rPr lang="zh-CN" altLang="zh-CN" sz="500" b="1" dirty="0"/>
                  <a:t>甲的视角（最大化最不利情形下的期望收益）：</a:t>
                </a:r>
                <a:endParaRPr lang="zh-CN" altLang="zh-CN" sz="500" dirty="0"/>
              </a:p>
              <a:p>
                <a:r>
                  <a:rPr lang="zh-CN" altLang="zh-CN" sz="500" b="1" dirty="0"/>
                  <a:t>决策变量：</a:t>
                </a:r>
                <a:endParaRPr lang="zh-CN" altLang="zh-CN" sz="500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50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500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zh-CN" sz="500" dirty="0"/>
                  <a:t>：甲选择策略 </a:t>
                </a:r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sz="500" dirty="0"/>
                  <a:t> </a:t>
                </a:r>
                <a:r>
                  <a:rPr lang="zh-CN" altLang="zh-CN" sz="500" dirty="0"/>
                  <a:t>的概率</a:t>
                </a:r>
              </a:p>
              <a:p>
                <a:pPr lvl="0"/>
                <a14:m>
                  <m:oMath xmlns:m="http://schemas.openxmlformats.org/officeDocument/2006/math">
                    <m:r>
                      <a:rPr lang="zh-CN" altLang="en-US" sz="5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zh-CN" altLang="zh-CN" sz="500" dirty="0"/>
                  <a:t>：甲在最不利情形下的期望收益（博弈值）</a:t>
                </a:r>
              </a:p>
              <a:p>
                <a:r>
                  <a:rPr lang="zh-CN" altLang="zh-CN" sz="500" b="1" dirty="0"/>
                  <a:t>标准的</a:t>
                </a:r>
                <a:r>
                  <a:rPr lang="en-US" altLang="zh-CN" sz="500" b="1" dirty="0"/>
                  <a:t> LP </a:t>
                </a:r>
                <a:r>
                  <a:rPr lang="zh-CN" altLang="zh-CN" sz="500" b="1" dirty="0"/>
                  <a:t>写法（无需 </a:t>
                </a:r>
                <a14:m>
                  <m:oMath xmlns:m="http://schemas.openxmlformats.org/officeDocument/2006/math">
                    <m:r>
                      <a:rPr lang="zh-CN" altLang="en-US" sz="500" b="1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500" b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5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zh-CN" sz="500" b="1" dirty="0"/>
                  <a:t> </a:t>
                </a:r>
                <a:r>
                  <a:rPr lang="zh-CN" altLang="zh-CN" sz="500" b="1" dirty="0"/>
                  <a:t>假设）：</a:t>
                </a:r>
                <a14:m>
                  <m:oMath xmlns:m="http://schemas.openxmlformats.org/officeDocument/2006/math">
                    <m:eqArr>
                      <m:eqArrPr>
                        <m:ctrlPr>
                          <a:rPr lang="zh-CN" altLang="en-US" sz="500" i="1" smtClean="0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r>
                          <m:rPr>
                            <m:sty m:val="p"/>
                          </m:rPr>
                          <a:rPr lang="en-US" altLang="zh-CN" sz="500" smtClean="0"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zh-CN" altLang="en-US" sz="500" i="1" smtClean="0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zh-CN" altLang="en-US" sz="50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e>
                        <m:r>
                          <m:rPr>
                            <m:nor/>
                          </m:rPr>
                          <a:rPr lang="en-US" altLang="zh-CN" sz="500"/>
                          <m:t>s</m:t>
                        </m:r>
                        <m:r>
                          <m:rPr>
                            <m:nor/>
                          </m:rPr>
                          <a:rPr lang="en-US" altLang="zh-CN" sz="500"/>
                          <m:t>.</m:t>
                        </m:r>
                        <m:r>
                          <m:rPr>
                            <m:nor/>
                          </m:rPr>
                          <a:rPr lang="en-US" altLang="zh-CN" sz="500"/>
                          <m:t>t</m:t>
                        </m:r>
                        <m:r>
                          <m:rPr>
                            <m:nor/>
                          </m:rPr>
                          <a:rPr lang="en-US" altLang="zh-CN" sz="500"/>
                          <m:t>.</m:t>
                        </m:r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 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5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5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5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5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5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5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5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500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  <m:sSub>
                          <m:sSubPr>
                            <m:ctrlPr>
                              <a:rPr lang="zh-CN" altLang="en-US" sz="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5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5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zh-CN" altLang="en-US" sz="50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5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5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sz="5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5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50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5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5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5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5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5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5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5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CN" altLang="en-US" sz="5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5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5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sSub>
                          <m:sSubPr>
                            <m:ctrlPr>
                              <a:rPr lang="zh-CN" altLang="en-US" sz="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zh-CN" altLang="en-US" sz="5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zh-CN" altLang="en-US" sz="50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5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eqArr>
                  </m:oMath>
                </a14:m>
                <a:endParaRPr lang="zh-CN" altLang="zh-CN" sz="500" dirty="0"/>
              </a:p>
              <a:p>
                <a:r>
                  <a:rPr lang="zh-CN" altLang="zh-CN" sz="500" b="1" dirty="0"/>
                  <a:t>乙的对偶问题（最小化最不利情形下的期望损失）</a:t>
                </a:r>
                <a14:m>
                  <m:oMath xmlns:m="http://schemas.openxmlformats.org/officeDocument/2006/math">
                    <m:eqArr>
                      <m:eqArr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r>
                          <m:rPr>
                            <m:sty m:val="p"/>
                          </m:rPr>
                          <a:rPr lang="en-US" altLang="zh-CN" sz="500">
                            <a:latin typeface="Cambria Math" panose="02040503050406030204" pitchFamily="18" charset="0"/>
                          </a:rPr>
                          <m:t>min</m:t>
                        </m:r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e>
                        <m:r>
                          <m:rPr>
                            <m:nor/>
                          </m:rPr>
                          <a:rPr lang="en-US" altLang="zh-CN" sz="500"/>
                          <m:t>s</m:t>
                        </m:r>
                        <m:r>
                          <m:rPr>
                            <m:nor/>
                          </m:rPr>
                          <a:rPr lang="en-US" altLang="zh-CN" sz="500"/>
                          <m:t>.</m:t>
                        </m:r>
                        <m:r>
                          <m:rPr>
                            <m:nor/>
                          </m:rPr>
                          <a:rPr lang="en-US" altLang="zh-CN" sz="500"/>
                          <m:t>t</m:t>
                        </m:r>
                        <m:r>
                          <m:rPr>
                            <m:nor/>
                          </m:rPr>
                          <a:rPr lang="en-US" altLang="zh-CN" sz="500"/>
                          <m:t>.</m:t>
                        </m:r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 </m:t>
                        </m:r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5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5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5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5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5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5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5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zh-CN" altLang="en-US" sz="500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  <m:sSub>
                          <m:sSubPr>
                            <m:ctrlPr>
                              <a:rPr lang="zh-CN" altLang="en-US" sz="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5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zh-CN" altLang="en-US" sz="5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zh-CN" altLang="en-US" sz="50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sz="5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5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 </m:t>
                        </m:r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5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5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500">
                            <a:latin typeface="Cambria Math" panose="02040503050406030204" pitchFamily="18" charset="0"/>
                          </a:rPr>
                          <m:t>,…,</m:t>
                        </m:r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zh-CN" altLang="en-US" sz="5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zh-CN" altLang="en-US" sz="5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50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5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5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5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5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zh-CN" altLang="en-US" sz="5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5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5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sSub>
                          <m:sSubPr>
                            <m:ctrlPr>
                              <a:rPr lang="zh-CN" altLang="en-US" sz="5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5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zh-CN" altLang="en-US" sz="5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zh-CN" altLang="en-US" sz="50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5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eqArr>
                  </m:oMath>
                </a14:m>
                <a:endParaRPr lang="zh-CN" altLang="zh-CN" sz="500" dirty="0"/>
              </a:p>
              <a:p>
                <a:r>
                  <a:rPr lang="zh-CN" altLang="zh-CN" sz="500" b="1" dirty="0"/>
                  <a:t>对偶关系：</a:t>
                </a:r>
                <a:r>
                  <a:rPr lang="zh-CN" altLang="zh-CN" sz="500" dirty="0"/>
                  <a:t> 根据强对偶定理，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zh-CN" altLang="en-US" sz="5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5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5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5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zh-CN" altLang="en-US" sz="50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CN" altLang="zh-CN" sz="500" dirty="0"/>
                  <a:t>，即双方最优混合策略下的博弈值相同。</a:t>
                </a:r>
              </a:p>
              <a:p>
                <a:endParaRPr lang="zh-CN" altLang="zh-CN" sz="5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14F880BF-E114-97FB-47AA-8D9DB69BA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3743" y="5298518"/>
                <a:ext cx="2613768" cy="1663661"/>
              </a:xfrm>
              <a:prstGeom prst="rect">
                <a:avLst/>
              </a:prstGeom>
              <a:blipFill>
                <a:blip r:embed="rId6"/>
                <a:stretch>
                  <a:fillRect r="-7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F4BD22CF-3028-7E5B-0930-363DAB9A5A55}"/>
              </a:ext>
            </a:extLst>
          </p:cNvPr>
          <p:cNvCxnSpPr>
            <a:cxnSpLocks/>
          </p:cNvCxnSpPr>
          <p:nvPr/>
        </p:nvCxnSpPr>
        <p:spPr>
          <a:xfrm>
            <a:off x="2499556" y="5326083"/>
            <a:ext cx="24794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091B5A55-57DC-38F6-072C-0ABD64A0278F}"/>
              </a:ext>
            </a:extLst>
          </p:cNvPr>
          <p:cNvSpPr txBox="1"/>
          <p:nvPr/>
        </p:nvSpPr>
        <p:spPr>
          <a:xfrm>
            <a:off x="7400924" y="3980130"/>
            <a:ext cx="2499259" cy="255454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square" rtlCol="0">
            <a:spAutoFit/>
          </a:bodyPr>
          <a:lstStyle/>
          <a:p>
            <a:pPr latinLnBrk="1">
              <a:spcAft>
                <a:spcPts val="1000"/>
              </a:spcAft>
              <a:buNone/>
            </a:pPr>
            <a:r>
              <a:rPr lang="en-US" altLang="zh-CN" sz="5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numpy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np  </a:t>
            </a:r>
            <a:r>
              <a:rPr lang="en-US" altLang="zh-CN" sz="500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###7.2</a:t>
            </a: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gurobipy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</a:t>
            </a: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赢得矩阵（甲的视角）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=====</a:t>
            </a: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np.array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([</a:t>
            </a: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[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],</a:t>
            </a: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[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])</a:t>
            </a: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m, n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A.shape</a:t>
            </a: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=====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甲的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LP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max v =====</a:t>
            </a: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model_a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gp.Model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500" dirty="0" err="1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game_a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model_a.addVars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(m,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'x'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model_a.addVar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lb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gp.GRB.INFINITY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'v'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model_a.setObjective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(v,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gp.GRB.MAXIMIZE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# </a:t>
            </a:r>
            <a:r>
              <a:rPr lang="zh-CN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无论乙选什么策略，甲至少得</a:t>
            </a:r>
            <a:r>
              <a:rPr lang="en-US" altLang="zh-CN" sz="500" i="1" dirty="0">
                <a:solidFill>
                  <a:srgbClr val="60A0B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v</a:t>
            </a: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(n):</a:t>
            </a: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model_a.addConstr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gp.quicksum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(A[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j]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x[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(m))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&gt;=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v, 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 err="1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f'strategy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_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model_a.addConstr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gp.quicksum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(x[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(m))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, name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'prob'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model_a.optimize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()</a:t>
            </a: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"=== </a:t>
            </a:r>
            <a:r>
              <a:rPr lang="zh-CN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甲（行玩家）最优混合策略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==="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model_a.status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gp.GRB.OPTIMAL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</a:t>
            </a:r>
            <a:r>
              <a:rPr lang="zh-CN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博弈值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v = 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:.4f}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b="1" dirty="0">
                <a:solidFill>
                  <a:srgbClr val="00702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range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(m):</a:t>
            </a:r>
            <a:br>
              <a:rPr lang="en-US" altLang="zh-CN" sz="500" dirty="0">
                <a:effectLst/>
                <a:latin typeface="Aptos" panose="020B0004020202020204" pitchFamily="34" charset="0"/>
                <a:ea typeface="等线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500" dirty="0">
                <a:solidFill>
                  <a:srgbClr val="00800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print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f"  x_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solidFill>
                  <a:srgbClr val="666666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sz="500" dirty="0">
                <a:solidFill>
                  <a:srgbClr val="40A07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x[</a:t>
            </a:r>
            <a:r>
              <a:rPr lang="en-US" altLang="zh-CN" sz="500" dirty="0" err="1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]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500" dirty="0">
                <a:solidFill>
                  <a:srgbClr val="4070A0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:.4f}</a:t>
            </a:r>
            <a:r>
              <a:rPr lang="en-US" altLang="zh-CN" sz="500" dirty="0">
                <a:solidFill>
                  <a:srgbClr val="BB6688"/>
                </a:solidFill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500" dirty="0">
                <a:effectLst/>
                <a:latin typeface="Consolas" panose="020B0609020204030204" pitchFamily="49" charset="0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500" dirty="0">
              <a:effectLst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A2AD1BAF-A07C-1E5E-ACBD-EAD11E337DC7}"/>
              </a:ext>
            </a:extLst>
          </p:cNvPr>
          <p:cNvCxnSpPr>
            <a:cxnSpLocks/>
          </p:cNvCxnSpPr>
          <p:nvPr/>
        </p:nvCxnSpPr>
        <p:spPr>
          <a:xfrm>
            <a:off x="7400924" y="4000203"/>
            <a:ext cx="247947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图片 45">
            <a:extLst>
              <a:ext uri="{FF2B5EF4-FFF2-40B4-BE49-F238E27FC236}">
                <a16:creationId xmlns:a16="http://schemas.microsoft.com/office/drawing/2014/main" id="{A23E9204-1788-78BD-AA9D-776637C936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892" y="3917631"/>
            <a:ext cx="1294398" cy="1092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857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587</TotalTime>
  <Words>7611</Words>
  <Application>Microsoft Office PowerPoint</Application>
  <PresentationFormat>A4 纸张(210x297 毫米)</PresentationFormat>
  <Paragraphs>128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Consolas</vt:lpstr>
      <vt:lpstr>Open Sans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Tianyi Chou</dc:creator>
  <cp:lastModifiedBy>Tianyi Chou</cp:lastModifiedBy>
  <cp:revision>9</cp:revision>
  <dcterms:created xsi:type="dcterms:W3CDTF">2026-06-25T08:34:27Z</dcterms:created>
  <dcterms:modified xsi:type="dcterms:W3CDTF">2026-06-28T12:13:00Z</dcterms:modified>
</cp:coreProperties>
</file>